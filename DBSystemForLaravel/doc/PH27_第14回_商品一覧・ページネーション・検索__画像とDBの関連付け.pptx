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58" r:id="rId6"/>
    <p:sldId id="262" r:id="rId7"/>
    <p:sldId id="263" r:id="rId8"/>
    <p:sldId id="259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2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197FCEB1-7BDE-427E-8CF6-88E508DDC1C7}"/>
    <pc:docChg chg="custSel addSld">
      <pc:chgData name="NH-STAFF 高橋真広" userId="60c902bb-f64f-40cf-869e-8386dac879fa" providerId="ADAL" clId="{197FCEB1-7BDE-427E-8CF6-88E508DDC1C7}" dt="2026-09-01T06:11:27.736" v="0" actId="26606"/>
      <pc:docMkLst>
        <pc:docMk/>
      </pc:docMkLst>
      <pc:sldChg chg="add">
        <pc:chgData name="NH-STAFF 高橋真広" userId="60c902bb-f64f-40cf-869e-8386dac879fa" providerId="ADAL" clId="{197FCEB1-7BDE-427E-8CF6-88E508DDC1C7}" dt="2026-09-01T06:11:27.736" v="0" actId="26606"/>
        <pc:sldMkLst>
          <pc:docMk/>
          <pc:sldMk cId="0" sldId="260"/>
        </pc:sldMkLst>
      </pc:sldChg>
      <pc:sldChg chg="add">
        <pc:chgData name="NH-STAFF 高橋真広" userId="60c902bb-f64f-40cf-869e-8386dac879fa" providerId="ADAL" clId="{197FCEB1-7BDE-427E-8CF6-88E508DDC1C7}" dt="2026-09-01T06:11:27.736" v="0" actId="26606"/>
        <pc:sldMkLst>
          <pc:docMk/>
          <pc:sldMk cId="0" sldId="261"/>
        </pc:sldMkLst>
      </pc:sldChg>
      <pc:sldChg chg="add">
        <pc:chgData name="NH-STAFF 高橋真広" userId="60c902bb-f64f-40cf-869e-8386dac879fa" providerId="ADAL" clId="{197FCEB1-7BDE-427E-8CF6-88E508DDC1C7}" dt="2026-09-01T06:11:27.736" v="0" actId="26606"/>
        <pc:sldMkLst>
          <pc:docMk/>
          <pc:sldMk cId="0" sldId="262"/>
        </pc:sldMkLst>
      </pc:sldChg>
      <pc:sldChg chg="add">
        <pc:chgData name="NH-STAFF 高橋真広" userId="60c902bb-f64f-40cf-869e-8386dac879fa" providerId="ADAL" clId="{197FCEB1-7BDE-427E-8CF6-88E508DDC1C7}" dt="2026-09-01T06:11:27.736" v="0" actId="26606"/>
        <pc:sldMkLst>
          <pc:docMk/>
          <pc:sldMk cId="0" sldId="263"/>
        </pc:sldMkLst>
      </pc:sldChg>
      <pc:sldChg chg="add">
        <pc:chgData name="NH-STAFF 高橋真広" userId="60c902bb-f64f-40cf-869e-8386dac879fa" providerId="ADAL" clId="{197FCEB1-7BDE-427E-8CF6-88E508DDC1C7}" dt="2026-09-01T06:11:27.736" v="0" actId="26606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607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3657600" cy="3657600"/>
          </a:xfrm>
          <a:prstGeom prst="ellipse">
            <a:avLst/>
          </a:prstGeom>
          <a:solidFill>
            <a:srgbClr val="B22222">
              <a:alpha val="25000"/>
            </a:srgbClr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3342F">
              <a:alpha val="80000"/>
            </a:srgbClr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256032"/>
            <a:ext cx="2377440" cy="566928"/>
          </a:xfrm>
          <a:prstGeom prst="rect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PH27  第14回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34640" y="292608"/>
            <a:ext cx="777240" cy="5029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834640" y="2926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商品一覧・ページネーション・検索 / 画像とDBの関連付け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単元 14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" y="4617720"/>
            <a:ext cx="86868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B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|  Laravel  |  2026年度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商品一覧・ページネーション・検索 / 画像とDBの関連付け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講義内容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paginate()・orderBy()・where()による絞り込みと検索フォームの連携を解説する。続いてStorage::putFile()による画像アップロード・DBへのパス保存・Blade上での表示を解説する。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本日の全体像</a:t>
            </a:r>
            <a:endParaRPr lang="ja-JP" altLang="en-US" sz="2200"/>
          </a:p>
        </p:txBody>
      </p:sp>
      <p:sp>
        <p:nvSpPr>
          <p:cNvPr id="4" name="Accent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Card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ardHead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CardLabel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overview.md</a:t>
            </a:r>
            <a:endParaRPr lang="ja-JP" altLang="en-US" sz="1100"/>
          </a:p>
        </p:txBody>
      </p:sp>
      <p:sp>
        <p:nvSpPr>
          <p:cNvPr id="8" name="Bar0"/>
          <p:cNvSpPr/>
          <p:nvPr/>
        </p:nvSpPr>
        <p:spPr>
          <a:xfrm>
            <a:off x="384048" y="12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H0"/>
          <p:cNvSpPr/>
          <p:nvPr/>
        </p:nvSpPr>
        <p:spPr>
          <a:xfrm>
            <a:off x="530000" y="12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一覧表示とページネーション</a:t>
            </a:r>
            <a:endParaRPr lang="ja-JP" altLang="en-US" sz="1500"/>
          </a:p>
        </p:txBody>
      </p:sp>
      <p:sp>
        <p:nvSpPr>
          <p:cNvPr id="10" name="B0"/>
          <p:cNvSpPr/>
          <p:nvPr/>
        </p:nvSpPr>
        <p:spPr>
          <a:xfrm>
            <a:off x="530000" y="15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・paginate() が返す LengthAwarePaginator の役割を理解する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・Blade の {{ $items-&gt;links() }} でページリンクを自動生成する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・1ページ件数の設計（10〜20件）と表示件数の考え方</a:t>
            </a:r>
            <a:endParaRPr lang="ja-JP" altLang="en-US" sz="1250"/>
          </a:p>
        </p:txBody>
      </p:sp>
      <p:sp>
        <p:nvSpPr>
          <p:cNvPr id="11" name="Bar1"/>
          <p:cNvSpPr/>
          <p:nvPr/>
        </p:nvSpPr>
        <p:spPr>
          <a:xfrm>
            <a:off x="384048" y="23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H1"/>
          <p:cNvSpPr/>
          <p:nvPr/>
        </p:nvSpPr>
        <p:spPr>
          <a:xfrm>
            <a:off x="530000" y="23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検索・並び替えによる絞り込み</a:t>
            </a:r>
            <a:endParaRPr lang="ja-JP" altLang="en-US" sz="1500"/>
          </a:p>
        </p:txBody>
      </p:sp>
      <p:sp>
        <p:nvSpPr>
          <p:cNvPr id="13" name="B1"/>
          <p:cNvSpPr/>
          <p:nvPr/>
        </p:nvSpPr>
        <p:spPr>
          <a:xfrm>
            <a:off x="530000" y="26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・where() / like による部分一致検索とクエリビルダの組み立て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・orderBy() ・ latest() で並び順を制御する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・検索フォームとページ送りを両立させる appends() の使い方</a:t>
            </a:r>
            <a:endParaRPr lang="ja-JP" altLang="en-US" sz="1250"/>
          </a:p>
        </p:txBody>
      </p:sp>
      <p:sp>
        <p:nvSpPr>
          <p:cNvPr id="14" name="Bar2"/>
          <p:cNvSpPr/>
          <p:nvPr/>
        </p:nvSpPr>
        <p:spPr>
          <a:xfrm>
            <a:off x="384048" y="34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H2"/>
          <p:cNvSpPr/>
          <p:nvPr/>
        </p:nvSpPr>
        <p:spPr>
          <a:xfrm>
            <a:off x="530000" y="34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画像とデータベースの関連付け</a:t>
            </a:r>
            <a:endParaRPr lang="ja-JP" altLang="en-US" sz="1500"/>
          </a:p>
        </p:txBody>
      </p:sp>
      <p:sp>
        <p:nvSpPr>
          <p:cNvPr id="16" name="B2"/>
          <p:cNvSpPr/>
          <p:nvPr/>
        </p:nvSpPr>
        <p:spPr>
          <a:xfrm>
            <a:off x="530000" y="37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・フォームからの画像アップロードとバリデーション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・storage への保存とDBにはパス（文字列）のみを保存する設計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・Blade での asset() 表示と storage:link の必要性</a:t>
            </a:r>
            <a:endParaRPr lang="ja-JP" altLang="en-US" sz="1250"/>
          </a:p>
        </p:txBody>
      </p:sp>
      <p:sp>
        <p:nvSpPr>
          <p:cNvPr id="17" name="Foote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F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ja-JP" altLang="en-US" sz="1200"/>
          </a:p>
        </p:txBody>
      </p:sp>
      <p:sp>
        <p:nvSpPr>
          <p:cNvPr id="19" name="F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ja-JP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ページネーションの基礎</a:t>
            </a:r>
            <a:endParaRPr lang="ja-JP" altLang="en-US" sz="2200"/>
          </a:p>
        </p:txBody>
      </p:sp>
      <p:sp>
        <p:nvSpPr>
          <p:cNvPr id="4" name="Accent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Card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ardHead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CardLabel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pagination.md</a:t>
            </a:r>
            <a:endParaRPr lang="ja-JP" altLang="en-US" sz="1100"/>
          </a:p>
        </p:txBody>
      </p:sp>
      <p:sp>
        <p:nvSpPr>
          <p:cNvPr id="8" name="Bar0"/>
          <p:cNvSpPr/>
          <p:nvPr/>
        </p:nvSpPr>
        <p:spPr>
          <a:xfrm>
            <a:off x="384048" y="12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H0"/>
          <p:cNvSpPr/>
          <p:nvPr/>
        </p:nvSpPr>
        <p:spPr>
          <a:xfrm>
            <a:off x="530000" y="12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主なメソッドの違い</a:t>
            </a:r>
            <a:endParaRPr lang="ja-JP" altLang="en-US" sz="1500"/>
          </a:p>
        </p:txBody>
      </p:sp>
      <p:sp>
        <p:nvSpPr>
          <p:cNvPr id="10" name="B0"/>
          <p:cNvSpPr/>
          <p:nvPr/>
        </p:nvSpPr>
        <p:spPr>
          <a:xfrm>
            <a:off x="530000" y="15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・paginate(10)：総件数を取得し、ページ番号付きリンクを生成する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・simplePaginate(10)：前へ／次へのみ。総件数を数えないため高速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・cursorPaginate()：大量データ向け。カーソル方式で安定した並び</a:t>
            </a:r>
            <a:endParaRPr lang="ja-JP" altLang="en-US" sz="1250"/>
          </a:p>
        </p:txBody>
      </p:sp>
      <p:sp>
        <p:nvSpPr>
          <p:cNvPr id="11" name="Bar1"/>
          <p:cNvSpPr/>
          <p:nvPr/>
        </p:nvSpPr>
        <p:spPr>
          <a:xfrm>
            <a:off x="384048" y="23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H1"/>
          <p:cNvSpPr/>
          <p:nvPr/>
        </p:nvSpPr>
        <p:spPr>
          <a:xfrm>
            <a:off x="530000" y="23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ビュー側での扱い</a:t>
            </a:r>
            <a:endParaRPr lang="ja-JP" altLang="en-US" sz="1500"/>
          </a:p>
        </p:txBody>
      </p:sp>
      <p:sp>
        <p:nvSpPr>
          <p:cNvPr id="13" name="B1"/>
          <p:cNvSpPr/>
          <p:nvPr/>
        </p:nvSpPr>
        <p:spPr>
          <a:xfrm>
            <a:off x="530000" y="26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・$members は配列のように foreach で回せる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・$members-&gt;links() でページリンク、-&gt;total() で総件数を表示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・-&gt;onEachSide(1) で表示するページ番号の数を調整できる</a:t>
            </a:r>
            <a:endParaRPr lang="ja-JP" altLang="en-US" sz="1250"/>
          </a:p>
        </p:txBody>
      </p:sp>
      <p:sp>
        <p:nvSpPr>
          <p:cNvPr id="14" name="Bar2"/>
          <p:cNvSpPr/>
          <p:nvPr/>
        </p:nvSpPr>
        <p:spPr>
          <a:xfrm>
            <a:off x="384048" y="34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H2"/>
          <p:cNvSpPr/>
          <p:nvPr/>
        </p:nvSpPr>
        <p:spPr>
          <a:xfrm>
            <a:off x="530000" y="34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設計上の注意</a:t>
            </a:r>
            <a:endParaRPr lang="ja-JP" altLang="en-US" sz="1500"/>
          </a:p>
        </p:txBody>
      </p:sp>
      <p:sp>
        <p:nvSpPr>
          <p:cNvPr id="16" name="B2"/>
          <p:cNvSpPr/>
          <p:nvPr/>
        </p:nvSpPr>
        <p:spPr>
          <a:xfrm>
            <a:off x="530000" y="37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・ページ番号は ?page=2 のクエリ文字列で受け渡される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・orderBy を指定しないと並び順が不定になりページ間で重複する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・1ページの件数は画面の情報量とレスポンス速度のバランスで決める</a:t>
            </a:r>
            <a:endParaRPr lang="ja-JP" altLang="en-US" sz="1250"/>
          </a:p>
        </p:txBody>
      </p:sp>
      <p:sp>
        <p:nvSpPr>
          <p:cNvPr id="17" name="Foote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F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ja-JP" altLang="en-US" sz="1200"/>
          </a:p>
        </p:txBody>
      </p:sp>
      <p:sp>
        <p:nvSpPr>
          <p:cNvPr id="19" name="F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ja-JP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ページネーションと検索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ページネーションと検索.php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index(Request $request)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$query = Member::query();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($request-&gt;filled("keyword"))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$query-&gt;where("name", "like",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"%" . $request-&gt;keyword . "%");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$members = $query-&gt;latest()-&gt;paginate(10);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view("member.index",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compact("members"));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{{-- Blade: ページネーションリンク --}}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$members-&gt;links() }}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{{-- Blade: 検索フォーム --}}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"keyword"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value="{{ request("keyword") }}"&gt;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検索と絞り込みの実装ポイント</a:t>
            </a:r>
            <a:endParaRPr lang="ja-JP" altLang="en-US" sz="2200"/>
          </a:p>
        </p:txBody>
      </p:sp>
      <p:sp>
        <p:nvSpPr>
          <p:cNvPr id="4" name="Accent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Card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ardHead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CardLabel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search.md</a:t>
            </a:r>
            <a:endParaRPr lang="ja-JP" altLang="en-US" sz="1100"/>
          </a:p>
        </p:txBody>
      </p:sp>
      <p:sp>
        <p:nvSpPr>
          <p:cNvPr id="8" name="Bar0"/>
          <p:cNvSpPr/>
          <p:nvPr/>
        </p:nvSpPr>
        <p:spPr>
          <a:xfrm>
            <a:off x="384048" y="12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H0"/>
          <p:cNvSpPr/>
          <p:nvPr/>
        </p:nvSpPr>
        <p:spPr>
          <a:xfrm>
            <a:off x="530000" y="12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条件を積み上げるクエリビルダ</a:t>
            </a:r>
            <a:endParaRPr lang="ja-JP" altLang="en-US" sz="1500"/>
          </a:p>
        </p:txBody>
      </p:sp>
      <p:sp>
        <p:nvSpPr>
          <p:cNvPr id="10" name="B0"/>
          <p:cNvSpPr/>
          <p:nvPr/>
        </p:nvSpPr>
        <p:spPr>
          <a:xfrm>
            <a:off x="530000" y="15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・Member::query() を起点に、条件がある時だけ where() を追加する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・filled() で「入力があるときだけ絞り込む」分岐を作る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・when() を使うと if 文を書かずに条件を追加できる</a:t>
            </a:r>
            <a:endParaRPr lang="ja-JP" altLang="en-US" sz="1250"/>
          </a:p>
        </p:txBody>
      </p:sp>
      <p:sp>
        <p:nvSpPr>
          <p:cNvPr id="11" name="Bar1"/>
          <p:cNvSpPr/>
          <p:nvPr/>
        </p:nvSpPr>
        <p:spPr>
          <a:xfrm>
            <a:off x="384048" y="23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H1"/>
          <p:cNvSpPr/>
          <p:nvPr/>
        </p:nvSpPr>
        <p:spPr>
          <a:xfrm>
            <a:off x="530000" y="23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ページ送りで検索条件を保持する</a:t>
            </a:r>
            <a:endParaRPr lang="ja-JP" altLang="en-US" sz="1500"/>
          </a:p>
        </p:txBody>
      </p:sp>
      <p:sp>
        <p:nvSpPr>
          <p:cNvPr id="13" name="B1"/>
          <p:cNvSpPr/>
          <p:nvPr/>
        </p:nvSpPr>
        <p:spPr>
          <a:xfrm>
            <a:off x="530000" y="26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・$members-&gt;appends($request-&gt;query()) でクエリ文字列を引き継ぐ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・フォームの input に value="{{ request('keyword') }}" を入れて再表示する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・検索フォームは method="GET" にしてURLで状態を共有できるようにする</a:t>
            </a:r>
            <a:endParaRPr lang="ja-JP" altLang="en-US" sz="1250"/>
          </a:p>
        </p:txBody>
      </p:sp>
      <p:sp>
        <p:nvSpPr>
          <p:cNvPr id="14" name="Bar2"/>
          <p:cNvSpPr/>
          <p:nvPr/>
        </p:nvSpPr>
        <p:spPr>
          <a:xfrm>
            <a:off x="384048" y="34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H2"/>
          <p:cNvSpPr/>
          <p:nvPr/>
        </p:nvSpPr>
        <p:spPr>
          <a:xfrm>
            <a:off x="530000" y="34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よくあるつまずき</a:t>
            </a:r>
            <a:endParaRPr lang="ja-JP" altLang="en-US" sz="1500"/>
          </a:p>
        </p:txBody>
      </p:sp>
      <p:sp>
        <p:nvSpPr>
          <p:cNvPr id="16" name="B2"/>
          <p:cNvSpPr/>
          <p:nvPr/>
        </p:nvSpPr>
        <p:spPr>
          <a:xfrm>
            <a:off x="530000" y="37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・like 検索では % の付け忘れに注意（前方一致・部分一致の違い）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・複数条件の OR は where(function($q){...}) でグループ化する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・ユーザー入力はエスケープ済みだが、生SQLを書く場合はバインドを使う</a:t>
            </a:r>
            <a:endParaRPr lang="ja-JP" altLang="en-US" sz="1250"/>
          </a:p>
        </p:txBody>
      </p:sp>
      <p:sp>
        <p:nvSpPr>
          <p:cNvPr id="17" name="Foote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F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ja-JP" altLang="en-US" sz="1200"/>
          </a:p>
        </p:txBody>
      </p:sp>
      <p:sp>
        <p:nvSpPr>
          <p:cNvPr id="19" name="F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ja-JP" alt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画像アップロードの仕組み</a:t>
            </a:r>
            <a:endParaRPr lang="ja-JP" altLang="en-US" sz="2200"/>
          </a:p>
        </p:txBody>
      </p:sp>
      <p:sp>
        <p:nvSpPr>
          <p:cNvPr id="4" name="Accent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Card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ardHead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CardLabel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upload.md</a:t>
            </a:r>
            <a:endParaRPr lang="ja-JP" altLang="en-US" sz="1100"/>
          </a:p>
        </p:txBody>
      </p:sp>
      <p:sp>
        <p:nvSpPr>
          <p:cNvPr id="8" name="Bar0"/>
          <p:cNvSpPr/>
          <p:nvPr/>
        </p:nvSpPr>
        <p:spPr>
          <a:xfrm>
            <a:off x="384048" y="12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H0"/>
          <p:cNvSpPr/>
          <p:nvPr/>
        </p:nvSpPr>
        <p:spPr>
          <a:xfrm>
            <a:off x="530000" y="12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アップロードの流れ</a:t>
            </a:r>
            <a:endParaRPr lang="ja-JP" altLang="en-US" sz="1500"/>
          </a:p>
        </p:txBody>
      </p:sp>
      <p:sp>
        <p:nvSpPr>
          <p:cNvPr id="10" name="B0"/>
          <p:cNvSpPr/>
          <p:nvPr/>
        </p:nvSpPr>
        <p:spPr>
          <a:xfrm>
            <a:off x="530000" y="15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・form に enctype="multipart/form-data" を指定する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・validate() で image / max:2048 などの制約をかける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・store('images','public') が storage/app/public/images に保存しパスを返す</a:t>
            </a:r>
            <a:endParaRPr lang="ja-JP" altLang="en-US" sz="1250"/>
          </a:p>
        </p:txBody>
      </p:sp>
      <p:sp>
        <p:nvSpPr>
          <p:cNvPr id="11" name="Bar1"/>
          <p:cNvSpPr/>
          <p:nvPr/>
        </p:nvSpPr>
        <p:spPr>
          <a:xfrm>
            <a:off x="384048" y="23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H1"/>
          <p:cNvSpPr/>
          <p:nvPr/>
        </p:nvSpPr>
        <p:spPr>
          <a:xfrm>
            <a:off x="530000" y="23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DBとファイルの関連付け</a:t>
            </a:r>
            <a:endParaRPr lang="ja-JP" altLang="en-US" sz="1500"/>
          </a:p>
        </p:txBody>
      </p:sp>
      <p:sp>
        <p:nvSpPr>
          <p:cNvPr id="13" name="B1"/>
          <p:cNvSpPr/>
          <p:nvPr/>
        </p:nvSpPr>
        <p:spPr>
          <a:xfrm>
            <a:off x="530000" y="26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・DBには画像そのものではなく保存パス（文字列）だけを持たせる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・images カラムは nullable にして未アップロードを許容する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・レコード削除時は Storage::delete() でファイルも整理する</a:t>
            </a:r>
            <a:endParaRPr lang="ja-JP" altLang="en-US" sz="1250"/>
          </a:p>
        </p:txBody>
      </p:sp>
      <p:sp>
        <p:nvSpPr>
          <p:cNvPr id="14" name="Bar2"/>
          <p:cNvSpPr/>
          <p:nvPr/>
        </p:nvSpPr>
        <p:spPr>
          <a:xfrm>
            <a:off x="384048" y="34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H2"/>
          <p:cNvSpPr/>
          <p:nvPr/>
        </p:nvSpPr>
        <p:spPr>
          <a:xfrm>
            <a:off x="530000" y="34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公開と表示</a:t>
            </a:r>
            <a:endParaRPr lang="ja-JP" altLang="en-US" sz="1500"/>
          </a:p>
        </p:txBody>
      </p:sp>
      <p:sp>
        <p:nvSpPr>
          <p:cNvPr id="16" name="B2"/>
          <p:cNvSpPr/>
          <p:nvPr/>
        </p:nvSpPr>
        <p:spPr>
          <a:xfrm>
            <a:off x="530000" y="37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・php artisan storage:link で public/storage のシンボリックリンクを作成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・Blade では asset('storage/'.$m-&gt;image) で参照する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・画像が無い場合の代替表示（no-image）を用意しておく</a:t>
            </a:r>
            <a:endParaRPr lang="ja-JP" altLang="en-US" sz="1250"/>
          </a:p>
        </p:txBody>
      </p:sp>
      <p:sp>
        <p:nvSpPr>
          <p:cNvPr id="17" name="Foote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F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ja-JP" altLang="en-US" sz="1200"/>
          </a:p>
        </p:txBody>
      </p:sp>
      <p:sp>
        <p:nvSpPr>
          <p:cNvPr id="19" name="F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ja-JP" alt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画像アップロードとDB保存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画像アップロードとDB保存.php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store(Request $request)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$request-&gt;validate([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"image" =&gt; "image|max:2048",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$path = null;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($request-&gt;hasFile("image"))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$path = $request-&gt;file("image")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-&gt;store("images", "public");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Member::create([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  =&gt; $request-&gt;name,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"image" =&gt; $path,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{{-- Bladeで表示 --}}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asset("</a:t>
            </a:r>
            <a:r>
              <a:rPr lang="en-US" sz="125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. $m-&gt;image) }}"</a:t>
            </a:r>
            <a:r>
              <a:rPr lang="en-US" sz="125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まとめと演習課題</a:t>
            </a:r>
            <a:endParaRPr lang="ja-JP" altLang="en-US" sz="2200"/>
          </a:p>
        </p:txBody>
      </p:sp>
      <p:sp>
        <p:nvSpPr>
          <p:cNvPr id="4" name="Accent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Card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ardHead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CardLabel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summary.md</a:t>
            </a:r>
            <a:endParaRPr lang="ja-JP" altLang="en-US" sz="1100"/>
          </a:p>
        </p:txBody>
      </p:sp>
      <p:sp>
        <p:nvSpPr>
          <p:cNvPr id="8" name="Bar0"/>
          <p:cNvSpPr/>
          <p:nvPr/>
        </p:nvSpPr>
        <p:spPr>
          <a:xfrm>
            <a:off x="384048" y="12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H0"/>
          <p:cNvSpPr/>
          <p:nvPr/>
        </p:nvSpPr>
        <p:spPr>
          <a:xfrm>
            <a:off x="530000" y="12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今回の要点</a:t>
            </a:r>
            <a:endParaRPr lang="ja-JP" altLang="en-US" sz="1500"/>
          </a:p>
        </p:txBody>
      </p:sp>
      <p:sp>
        <p:nvSpPr>
          <p:cNvPr id="10" name="B0"/>
          <p:cNvSpPr/>
          <p:nvPr/>
        </p:nvSpPr>
        <p:spPr>
          <a:xfrm>
            <a:off x="530000" y="15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・一覧・検索・ページネーションは1つの index() に集約して組み立てる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・検索条件はページ送り後も保持されるように appends() で引き継ぐ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・画像はファイルを storage に、DBにはパスを保存して関連付ける</a:t>
            </a:r>
            <a:endParaRPr lang="ja-JP" altLang="en-US" sz="1250"/>
          </a:p>
        </p:txBody>
      </p:sp>
      <p:sp>
        <p:nvSpPr>
          <p:cNvPr id="11" name="Bar1"/>
          <p:cNvSpPr/>
          <p:nvPr/>
        </p:nvSpPr>
        <p:spPr>
          <a:xfrm>
            <a:off x="384048" y="23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H1"/>
          <p:cNvSpPr/>
          <p:nvPr/>
        </p:nvSpPr>
        <p:spPr>
          <a:xfrm>
            <a:off x="530000" y="23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つまずきやすい箇所</a:t>
            </a:r>
            <a:endParaRPr lang="ja-JP" altLang="en-US" sz="1500"/>
          </a:p>
        </p:txBody>
      </p:sp>
      <p:sp>
        <p:nvSpPr>
          <p:cNvPr id="13" name="B1"/>
          <p:cNvSpPr/>
          <p:nvPr/>
        </p:nvSpPr>
        <p:spPr>
          <a:xfrm>
            <a:off x="530000" y="26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・storage:link を忘れて画像が表示されない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・検索するとページ2以降で条件が消える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・アップロードサイズ超過時のエラーメッセージが表示されない</a:t>
            </a:r>
            <a:endParaRPr lang="ja-JP" altLang="en-US" sz="1250"/>
          </a:p>
        </p:txBody>
      </p:sp>
      <p:sp>
        <p:nvSpPr>
          <p:cNvPr id="14" name="Bar2"/>
          <p:cNvSpPr/>
          <p:nvPr/>
        </p:nvSpPr>
        <p:spPr>
          <a:xfrm>
            <a:off x="384048" y="3424000"/>
            <a:ext cx="54864" cy="2971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H2"/>
          <p:cNvSpPr/>
          <p:nvPr/>
        </p:nvSpPr>
        <p:spPr>
          <a:xfrm>
            <a:off x="530000" y="3424000"/>
            <a:ext cx="8000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7B0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演習課題</a:t>
            </a:r>
            <a:endParaRPr lang="ja-JP" altLang="en-US" sz="1500"/>
          </a:p>
        </p:txBody>
      </p:sp>
      <p:sp>
        <p:nvSpPr>
          <p:cNvPr id="16" name="B2"/>
          <p:cNvSpPr/>
          <p:nvPr/>
        </p:nvSpPr>
        <p:spPr>
          <a:xfrm>
            <a:off x="530000" y="3774000"/>
            <a:ext cx="8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・会員一覧に名前・メールの部分一致検索を実装する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・1ページ10件のページネーションと件数表示を追加する</a:t>
            </a:r>
            <a:endParaRPr lang="ja-JP" altLang="en-US" sz="1250"/>
          </a:p>
          <a:p>
            <a:pPr marL="0" indent="0" algn="l">
              <a:buNone/>
            </a:pPr>
            <a:r>
              <a:rPr lang="ja-JP" altLang="en-US" sz="1250" b="0">
                <a:solidFill>
                  <a:srgbClr val="3D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・プロフィール画像のアップロードと一覧でのサムネイル表示を実装する</a:t>
            </a:r>
            <a:endParaRPr lang="ja-JP" altLang="en-US" sz="1250"/>
          </a:p>
        </p:txBody>
      </p:sp>
      <p:sp>
        <p:nvSpPr>
          <p:cNvPr id="17" name="Foote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F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第14回</a:t>
            </a:r>
            <a:endParaRPr lang="ja-JP" altLang="en-US" sz="1200"/>
          </a:p>
        </p:txBody>
      </p:sp>
      <p:sp>
        <p:nvSpPr>
          <p:cNvPr id="19" name="F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200" b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ja-JP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1162</Words>
  <Application>Microsoft Office PowerPoint</Application>
  <PresentationFormat>画面に合わせる (16:9)</PresentationFormat>
  <Paragraphs>137</Paragraphs>
  <Slides>9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Meiryo</vt:lpstr>
      <vt:lpstr>Arial</vt:lpstr>
      <vt:lpstr>Arial Black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PH27 第14回 商品一覧・ページネーション・検索 / 画像とDBの関連付け</dc:title>
  <dc:subject>PptxGenJS Presentation</dc:subject>
  <dc:creator>高橋 真広</dc:creator>
  <cp:lastModifiedBy>NH-STAFF 高橋真広</cp:lastModifiedBy>
  <cp:revision>1</cp:revision>
  <dcterms:created xsi:type="dcterms:W3CDTF">2026-04-01T02:13:36Z</dcterms:created>
  <dcterms:modified xsi:type="dcterms:W3CDTF">2026-09-01T06:11:39Z</dcterms:modified>
</cp:coreProperties>
</file>