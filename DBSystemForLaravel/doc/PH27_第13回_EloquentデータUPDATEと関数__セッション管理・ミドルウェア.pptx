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1" r:id="rId4"/>
    <p:sldId id="262" r:id="rId5"/>
    <p:sldId id="258" r:id="rId6"/>
    <p:sldId id="263" r:id="rId7"/>
    <p:sldId id="259" r:id="rId8"/>
    <p:sldId id="264" r:id="rId9"/>
    <p:sldId id="265" r:id="rId10"/>
    <p:sldId id="260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2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-STAFF 高橋真広" userId="60c902bb-f64f-40cf-869e-8386dac879fa" providerId="ADAL" clId="{197FCEB1-7BDE-427E-8CF6-88E508DDC1C7}"/>
    <pc:docChg chg="custSel addSld modSld">
      <pc:chgData name="NH-STAFF 高橋真広" userId="60c902bb-f64f-40cf-869e-8386dac879fa" providerId="ADAL" clId="{197FCEB1-7BDE-427E-8CF6-88E508DDC1C7}" dt="2026-07-14T08:43:00.045" v="0" actId="26606"/>
      <pc:docMkLst>
        <pc:docMk/>
      </pc:docMkLst>
      <pc:sldChg chg="modSp mod">
        <pc:chgData name="NH-STAFF 高橋真広" userId="60c902bb-f64f-40cf-869e-8386dac879fa" providerId="ADAL" clId="{197FCEB1-7BDE-427E-8CF6-88E508DDC1C7}" dt="2026-07-14T08:43:00.045" v="0" actId="26606"/>
        <pc:sldMkLst>
          <pc:docMk/>
          <pc:sldMk cId="0" sldId="257"/>
        </pc:sldMkLst>
        <pc:spChg chg="mod">
          <ac:chgData name="NH-STAFF 高橋真広" userId="60c902bb-f64f-40cf-869e-8386dac879fa" providerId="ADAL" clId="{197FCEB1-7BDE-427E-8CF6-88E508DDC1C7}" dt="2026-07-14T08:43:00.045" v="0" actId="26606"/>
          <ac:spMkLst>
            <pc:docMk/>
            <pc:sldMk cId="0" sldId="257"/>
            <ac:spMk id="10" creationId="{00000000-0000-0000-0000-000000000000}"/>
          </ac:spMkLst>
        </pc:spChg>
      </pc:sldChg>
      <pc:sldChg chg="add">
        <pc:chgData name="NH-STAFF 高橋真広" userId="60c902bb-f64f-40cf-869e-8386dac879fa" providerId="ADAL" clId="{197FCEB1-7BDE-427E-8CF6-88E508DDC1C7}" dt="2026-07-14T08:43:00.045" v="0" actId="26606"/>
        <pc:sldMkLst>
          <pc:docMk/>
          <pc:sldMk cId="0" sldId="261"/>
        </pc:sldMkLst>
      </pc:sldChg>
      <pc:sldChg chg="add">
        <pc:chgData name="NH-STAFF 高橋真広" userId="60c902bb-f64f-40cf-869e-8386dac879fa" providerId="ADAL" clId="{197FCEB1-7BDE-427E-8CF6-88E508DDC1C7}" dt="2026-07-14T08:43:00.045" v="0" actId="26606"/>
        <pc:sldMkLst>
          <pc:docMk/>
          <pc:sldMk cId="0" sldId="262"/>
        </pc:sldMkLst>
      </pc:sldChg>
      <pc:sldChg chg="add">
        <pc:chgData name="NH-STAFF 高橋真広" userId="60c902bb-f64f-40cf-869e-8386dac879fa" providerId="ADAL" clId="{197FCEB1-7BDE-427E-8CF6-88E508DDC1C7}" dt="2026-07-14T08:43:00.045" v="0" actId="26606"/>
        <pc:sldMkLst>
          <pc:docMk/>
          <pc:sldMk cId="0" sldId="263"/>
        </pc:sldMkLst>
      </pc:sldChg>
      <pc:sldChg chg="add">
        <pc:chgData name="NH-STAFF 高橋真広" userId="60c902bb-f64f-40cf-869e-8386dac879fa" providerId="ADAL" clId="{197FCEB1-7BDE-427E-8CF6-88E508DDC1C7}" dt="2026-07-14T08:43:00.045" v="0" actId="26606"/>
        <pc:sldMkLst>
          <pc:docMk/>
          <pc:sldMk cId="0" sldId="264"/>
        </pc:sldMkLst>
      </pc:sldChg>
      <pc:sldChg chg="add">
        <pc:chgData name="NH-STAFF 高橋真広" userId="60c902bb-f64f-40cf-869e-8386dac879fa" providerId="ADAL" clId="{197FCEB1-7BDE-427E-8CF6-88E508DDC1C7}" dt="2026-07-14T08:43:00.045" v="0" actId="26606"/>
        <pc:sldMkLst>
          <pc:docMk/>
          <pc:sldMk cId="0" sldId="265"/>
        </pc:sldMkLst>
      </pc:sldChg>
      <pc:sldChg chg="add">
        <pc:chgData name="NH-STAFF 高橋真広" userId="60c902bb-f64f-40cf-869e-8386dac879fa" providerId="ADAL" clId="{197FCEB1-7BDE-427E-8CF6-88E508DDC1C7}" dt="2026-07-14T08:43:00.045" v="0" actId="26606"/>
        <pc:sldMkLst>
          <pc:docMk/>
          <pc:sldMk cId="0" sldId="266"/>
        </pc:sldMkLst>
      </pc:sldChg>
      <pc:sldChg chg="add">
        <pc:chgData name="NH-STAFF 高橋真広" userId="60c902bb-f64f-40cf-869e-8386dac879fa" providerId="ADAL" clId="{197FCEB1-7BDE-427E-8CF6-88E508DDC1C7}" dt="2026-07-14T08:43:00.045" v="0" actId="26606"/>
        <pc:sldMkLst>
          <pc:docMk/>
          <pc:sldMk cId="0" sldId="267"/>
        </pc:sldMkLst>
      </pc:sldChg>
      <pc:sldChg chg="add">
        <pc:chgData name="NH-STAFF 高橋真広" userId="60c902bb-f64f-40cf-869e-8386dac879fa" providerId="ADAL" clId="{197FCEB1-7BDE-427E-8CF6-88E508DDC1C7}" dt="2026-07-14T08:43:00.045" v="0" actId="26606"/>
        <pc:sldMkLst>
          <pc:docMk/>
          <pc:sldMk cId="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3656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3657600" cy="3657600"/>
          </a:xfrm>
          <a:prstGeom prst="ellipse">
            <a:avLst/>
          </a:prstGeom>
          <a:solidFill>
            <a:srgbClr val="B22222">
              <a:alpha val="25000"/>
            </a:srgbClr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342F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E3342F">
              <a:alpha val="80000"/>
            </a:srgbClr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20040" y="256032"/>
            <a:ext cx="2377440" cy="566928"/>
          </a:xfrm>
          <a:prstGeom prst="rect">
            <a:avLst/>
          </a:prstGeom>
          <a:solidFill>
            <a:srgbClr val="E3342F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20040" y="2560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PH27  第13回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34640" y="292608"/>
            <a:ext cx="777240" cy="5029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834640" y="29260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EloquentデータUPDATEと関数 / セッション管理・ミドルウェア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単元 13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" y="4617720"/>
            <a:ext cx="86868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B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|  Laravel  |  2026年度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solidFill>
            <a:srgbClr val="7B0E22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D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EloquentデータUPDATEと関数 / セッション管理・ミドルウェア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" cy="4453128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solidFill>
            <a:srgbClr val="4F5B93"/>
          </a:solidFill>
          <a:ln w="12700">
            <a:solidFill>
              <a:srgbClr val="4F5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講義内容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86868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B8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11480" y="1463040"/>
            <a:ext cx="8321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13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本回では、Eloquentでのデータ更新（UPDATE）と、ログイン状態を扱うためのセッション・ミドルウェア・認証(Auth)を、初心者向けにやさしく解説します。</a:t>
            </a:r>
            <a:endParaRPr lang="ja-JP"/>
          </a:p>
          <a:p>
            <a:pPr marL="0" indent="0" algn="l">
              <a:spcBef>
                <a:spcPts val="550"/>
              </a:spcBef>
              <a:buNone/>
            </a:pPr>
            <a:r>
              <a:rPr lang="ja-JP" altLang="en-US" sz="13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到達目標</a:t>
            </a:r>
            <a:endParaRPr lang="ja-JP"/>
          </a:p>
          <a:p>
            <a:pPr marL="0" indent="0" algn="l">
              <a:spcBef>
                <a:spcPts val="30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・更新の流れ：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編集フォームからDBへ保存するまでの一連の処理を説明できる。</a:t>
            </a:r>
            <a:endParaRPr lang="ja-JP"/>
          </a:p>
          <a:p>
            <a:pPr marL="0" indent="0" algn="l">
              <a:spcBef>
                <a:spcPts val="25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・関数の役割：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findOrFail・update・redirect の役割を理解できる。</a:t>
            </a:r>
            <a:endParaRPr lang="ja-JP"/>
          </a:p>
          <a:p>
            <a:pPr marL="0" indent="0" algn="l">
              <a:spcBef>
                <a:spcPts val="25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・アクセス制御：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セッションとミドルウェア(auth)でログイン必須ページを守れる。</a:t>
            </a:r>
            <a:endParaRPr lang="ja-JP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第13回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solidFill>
            <a:srgbClr val="7B0E22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D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23444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キーワード解説（はじめに押さえる用語）</a:t>
            </a:r>
            <a:endParaRPr lang="en-US" sz="190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" cy="4453128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solidFill>
            <a:srgbClr val="4F5B93"/>
          </a:solidFill>
          <a:ln w="12700">
            <a:solidFill>
              <a:srgbClr val="4F5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用語集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86868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B8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11480" y="1463040"/>
            <a:ext cx="8321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150"/>
              </a:spcBef>
              <a:buNone/>
            </a:pPr>
            <a:r>
              <a:rPr lang="ja-JP" altLang="en-US" sz="11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MVC：</a:t>
            </a:r>
            <a:r>
              <a:rPr lang="ja-JP" altLang="en-US" sz="11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処理を「モデル(データ)・ビュー(画面)・コントローラ(制御)」に分ける設計。</a:t>
            </a:r>
            <a:endParaRPr lang="ja-JP"/>
          </a:p>
          <a:p>
            <a:pPr marL="0" indent="0" algn="l">
              <a:spcBef>
                <a:spcPts val="220"/>
              </a:spcBef>
              <a:buNone/>
            </a:pPr>
            <a:r>
              <a:rPr lang="ja-JP" altLang="en-US" sz="11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ルーティング：</a:t>
            </a:r>
            <a:r>
              <a:rPr lang="ja-JP" altLang="en-US" sz="11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どのURLでどの処理を呼ぶかを決める対応表（routes/web.php）。</a:t>
            </a:r>
            <a:endParaRPr lang="ja-JP"/>
          </a:p>
          <a:p>
            <a:pPr marL="0" indent="0" algn="l">
              <a:spcBef>
                <a:spcPts val="220"/>
              </a:spcBef>
              <a:buNone/>
            </a:pPr>
            <a:r>
              <a:rPr lang="ja-JP" altLang="en-US" sz="11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コントローラ：</a:t>
            </a:r>
            <a:r>
              <a:rPr lang="ja-JP" altLang="en-US" sz="11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リクエストを受け取り、処理を振り分けるクラス。</a:t>
            </a:r>
            <a:endParaRPr lang="ja-JP"/>
          </a:p>
          <a:p>
            <a:pPr marL="0" indent="0" algn="l">
              <a:spcBef>
                <a:spcPts val="220"/>
              </a:spcBef>
              <a:buNone/>
            </a:pPr>
            <a:r>
              <a:rPr lang="ja-JP" altLang="en-US" sz="11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Eloquent（ORM）：</a:t>
            </a:r>
            <a:r>
              <a:rPr lang="ja-JP" altLang="en-US" sz="11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PHPのオブジェクト操作でDBを読み書きできるLaravelの仕組み。</a:t>
            </a:r>
            <a:endParaRPr lang="ja-JP"/>
          </a:p>
          <a:p>
            <a:pPr marL="0" indent="0" algn="l">
              <a:spcBef>
                <a:spcPts val="220"/>
              </a:spcBef>
              <a:buNone/>
            </a:pPr>
            <a:r>
              <a:rPr lang="ja-JP" altLang="en-US" sz="11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モデル：</a:t>
            </a:r>
            <a:r>
              <a:rPr lang="ja-JP" altLang="en-US" sz="11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1つのテーブルに対応するクラス（例：Member）。</a:t>
            </a:r>
            <a:endParaRPr lang="ja-JP"/>
          </a:p>
          <a:p>
            <a:pPr marL="0" indent="0" algn="l">
              <a:spcBef>
                <a:spcPts val="220"/>
              </a:spcBef>
              <a:buNone/>
            </a:pPr>
            <a:r>
              <a:rPr lang="ja-JP" altLang="en-US" sz="11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セッション：</a:t>
            </a:r>
            <a:r>
              <a:rPr lang="ja-JP" altLang="en-US" sz="11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ページをまたいで情報を保持するサーバ側の記憶領域。</a:t>
            </a:r>
            <a:endParaRPr lang="ja-JP"/>
          </a:p>
          <a:p>
            <a:pPr marL="0" indent="0" algn="l">
              <a:spcBef>
                <a:spcPts val="220"/>
              </a:spcBef>
              <a:buNone/>
            </a:pPr>
            <a:r>
              <a:rPr lang="ja-JP" altLang="en-US" sz="11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ミドルウェア：</a:t>
            </a:r>
            <a:r>
              <a:rPr lang="ja-JP" altLang="en-US" sz="11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リクエストが処理に届く前後に挟む共通処理（例：ログイン確認）。</a:t>
            </a:r>
            <a:endParaRPr lang="ja-JP"/>
          </a:p>
          <a:p>
            <a:pPr marL="0" indent="0" algn="l">
              <a:spcBef>
                <a:spcPts val="220"/>
              </a:spcBef>
              <a:buNone/>
            </a:pPr>
            <a:r>
              <a:rPr lang="ja-JP" altLang="en-US" sz="11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認証（Auth）：</a:t>
            </a:r>
            <a:r>
              <a:rPr lang="ja-JP" altLang="en-US" sz="11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ログイン済みのユーザーを判定するLaravelの標準機能。</a:t>
            </a:r>
            <a:endParaRPr lang="ja-JP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第13回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solidFill>
            <a:srgbClr val="7B0E22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D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23444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データ更新（UPDATE）の全体像</a:t>
            </a:r>
            <a:endParaRPr lang="en-US" sz="190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" cy="4453128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solidFill>
            <a:srgbClr val="4F5B93"/>
          </a:solidFill>
          <a:ln w="12700">
            <a:solidFill>
              <a:srgbClr val="4F5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全体像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86868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B8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11480" y="1463040"/>
            <a:ext cx="8321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編集フォームで直した内容を、データベースに保存するまでの流れです。</a:t>
            </a:r>
            <a:endParaRPr lang="ja-JP"/>
          </a:p>
          <a:p>
            <a:pPr marL="0" indent="0" algn="l">
              <a:spcBef>
                <a:spcPts val="320"/>
              </a:spcBef>
              <a:buNone/>
            </a:pPr>
            <a:r>
              <a:rPr lang="ja-JP" altLang="en-US" sz="1250" b="1">
                <a:solidFill>
                  <a:srgbClr val="B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一覧や詳細から「編集」リンクを押す（GET /member/{id}/edit）。</a:t>
            </a:r>
            <a:endParaRPr lang="ja-JP"/>
          </a:p>
          <a:p>
            <a:pPr marL="0" indent="0" algn="l">
              <a:spcBef>
                <a:spcPts val="320"/>
              </a:spcBef>
              <a:buNone/>
            </a:pPr>
            <a:r>
              <a:rPr lang="ja-JP" altLang="en-US" sz="1250" b="1">
                <a:solidFill>
                  <a:srgbClr val="B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コントローラが対象データを取得し、編集フォームを表示する。</a:t>
            </a:r>
            <a:endParaRPr lang="ja-JP"/>
          </a:p>
          <a:p>
            <a:pPr marL="0" indent="0" algn="l">
              <a:spcBef>
                <a:spcPts val="320"/>
              </a:spcBef>
              <a:buNone/>
            </a:pPr>
            <a:r>
              <a:rPr lang="ja-JP" altLang="en-US" sz="1250" b="1">
                <a:solidFill>
                  <a:srgbClr val="B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フォームを送信すると PATCH /member/{id} が呼ばれる。</a:t>
            </a:r>
            <a:endParaRPr lang="ja-JP"/>
          </a:p>
          <a:p>
            <a:pPr marL="0" indent="0" algn="l">
              <a:spcBef>
                <a:spcPts val="320"/>
              </a:spcBef>
              <a:buNone/>
            </a:pPr>
            <a:r>
              <a:rPr lang="ja-JP" altLang="en-US" sz="1250" b="1">
                <a:solidFill>
                  <a:srgbClr val="B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コントローラが入力値でデータを更新する（Eloquentのupdate）。</a:t>
            </a:r>
            <a:endParaRPr lang="ja-JP"/>
          </a:p>
          <a:p>
            <a:pPr marL="0" indent="0" algn="l">
              <a:spcBef>
                <a:spcPts val="320"/>
              </a:spcBef>
              <a:buNone/>
            </a:pPr>
            <a:r>
              <a:rPr lang="ja-JP" altLang="en-US" sz="1250" b="1">
                <a:solidFill>
                  <a:srgbClr val="B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 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一覧ページへリダイレクトし「更新しました」と表示する。</a:t>
            </a:r>
            <a:endParaRPr lang="ja-JP"/>
          </a:p>
          <a:p>
            <a:pPr marL="0" indent="0" algn="l">
              <a:spcBef>
                <a:spcPts val="400"/>
              </a:spcBef>
              <a:buNone/>
            </a:pPr>
            <a:r>
              <a:rPr lang="ja-JP" altLang="en-US" sz="1150" b="1">
                <a:solidFill>
                  <a:srgbClr val="4F5B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CRUDの「U（Update）」にあたる、基本の更新処理です。</a:t>
            </a:r>
            <a:endParaRPr lang="ja-JP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第13回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EloquentデータUPDATE（1/2）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3904488"/>
          </a:xfrm>
          <a:prstGeom prst="rect">
            <a:avLst/>
          </a:prstGeom>
          <a:solidFill>
            <a:srgbClr val="F8F8FF"/>
          </a:solidFill>
          <a:ln w="12700">
            <a:solidFill>
              <a:srgbClr val="C5CA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solidFill>
            <a:srgbClr val="E8EAF0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84048" y="850392"/>
            <a:ext cx="128016" cy="128016"/>
          </a:xfrm>
          <a:prstGeom prst="ellipse">
            <a:avLst/>
          </a:prstGeom>
          <a:solidFill>
            <a:srgbClr val="E3342F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21792" y="850392"/>
            <a:ext cx="128016" cy="128016"/>
          </a:xfrm>
          <a:prstGeom prst="ellipse">
            <a:avLst/>
          </a:prstGeom>
          <a:solidFill>
            <a:srgbClr val="EFBB12"/>
          </a:solidFill>
          <a:ln w="12700">
            <a:solidFill>
              <a:srgbClr val="EFBB1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59536" y="850392"/>
            <a:ext cx="128016" cy="128016"/>
          </a:xfrm>
          <a:prstGeom prst="ellipse">
            <a:avLst/>
          </a:prstGeom>
          <a:solidFill>
            <a:srgbClr val="5BD75B"/>
          </a:solidFill>
          <a:ln w="12700">
            <a:solidFill>
              <a:srgbClr val="5BD7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28600" y="7680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EloquentデータUPDATE.php (1/2)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170432"/>
            <a:ext cx="832104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Route::get("/member/{id}/edit",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[MemberController::class, "edit"]);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Route::patch("/member/{id}",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[MemberController::class, "update"]);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edit($id) {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$member = Member::findOrFail($id);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B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view("member.edit",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compact("member"));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update(Request $request, $id) {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$member = Member::findOrFail($id);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$member-&gt;update([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"name"  =&gt; $request-&gt;name,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"email" =&gt; $request-&gt;email,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B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redirect("/member")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第13回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solidFill>
            <a:srgbClr val="7B0E22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D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23444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コード解説：edit / update メソッド</a:t>
            </a:r>
            <a:endParaRPr lang="en-US" sz="190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" cy="4453128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solidFill>
            <a:srgbClr val="4F5B93"/>
          </a:solidFill>
          <a:ln w="12700">
            <a:solidFill>
              <a:srgbClr val="4F5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コード解説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86868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B8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11480" y="1463040"/>
            <a:ext cx="8321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150"/>
              </a:spcBef>
              <a:buNone/>
            </a:pPr>
            <a:r>
              <a:rPr lang="ja-JP" altLang="en-US" sz="120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Route::get(.../edit)：</a:t>
            </a:r>
            <a:r>
              <a:rPr lang="ja-JP" altLang="en-US" sz="120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編集フォームを表示するためのURLを登録する。</a:t>
            </a:r>
            <a:endParaRPr lang="ja-JP"/>
          </a:p>
          <a:p>
            <a:pPr marL="0" indent="0" algn="l">
              <a:spcBef>
                <a:spcPts val="240"/>
              </a:spcBef>
              <a:buNone/>
            </a:pPr>
            <a:r>
              <a:rPr lang="ja-JP" altLang="en-US" sz="120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Route::patch(...)：</a:t>
            </a:r>
            <a:r>
              <a:rPr lang="ja-JP" altLang="en-US" sz="120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更新を実行するためのURLを登録する（更新はPATCH）。</a:t>
            </a:r>
            <a:endParaRPr lang="ja-JP"/>
          </a:p>
          <a:p>
            <a:pPr marL="0" indent="0" algn="l">
              <a:spcBef>
                <a:spcPts val="240"/>
              </a:spcBef>
              <a:buNone/>
            </a:pPr>
            <a:r>
              <a:rPr lang="ja-JP" altLang="en-US" sz="120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findOrFail($id)：</a:t>
            </a:r>
            <a:r>
              <a:rPr lang="ja-JP" altLang="en-US" sz="120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指定IDのデータを取得。存在しなければ404エラーになる。</a:t>
            </a:r>
            <a:endParaRPr lang="ja-JP"/>
          </a:p>
          <a:p>
            <a:pPr marL="0" indent="0" algn="l">
              <a:spcBef>
                <a:spcPts val="240"/>
              </a:spcBef>
              <a:buNone/>
            </a:pPr>
            <a:r>
              <a:rPr lang="ja-JP" altLang="en-US" sz="120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compact("member")：</a:t>
            </a:r>
            <a:r>
              <a:rPr lang="ja-JP" altLang="en-US" sz="120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取得したデータを編集画面(view)へ渡す。</a:t>
            </a:r>
            <a:endParaRPr lang="ja-JP"/>
          </a:p>
          <a:p>
            <a:pPr marL="0" indent="0" algn="l">
              <a:spcBef>
                <a:spcPts val="240"/>
              </a:spcBef>
              <a:buNone/>
            </a:pPr>
            <a:r>
              <a:rPr lang="ja-JP" altLang="en-US" sz="120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$member-&gt;update([...])：</a:t>
            </a:r>
            <a:r>
              <a:rPr lang="ja-JP" altLang="en-US" sz="120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配列で渡した項目をまとめて更新・保存する。</a:t>
            </a:r>
            <a:endParaRPr lang="ja-JP"/>
          </a:p>
          <a:p>
            <a:pPr marL="0" indent="0" algn="l">
              <a:spcBef>
                <a:spcPts val="240"/>
              </a:spcBef>
              <a:buNone/>
            </a:pPr>
            <a:r>
              <a:rPr lang="ja-JP" altLang="en-US" sz="120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$request-&gt;name / email：</a:t>
            </a:r>
            <a:r>
              <a:rPr lang="ja-JP" altLang="en-US" sz="120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フォームから送られてきた入力値。</a:t>
            </a:r>
            <a:endParaRPr lang="ja-JP"/>
          </a:p>
          <a:p>
            <a:pPr marL="0" indent="0" algn="l">
              <a:spcBef>
                <a:spcPts val="240"/>
              </a:spcBef>
              <a:buNone/>
            </a:pPr>
            <a:r>
              <a:rPr lang="ja-JP" altLang="en-US" sz="120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redirect("/member")：</a:t>
            </a:r>
            <a:r>
              <a:rPr lang="ja-JP" altLang="en-US" sz="120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更新後に一覧ページへ移動させる。</a:t>
            </a:r>
            <a:endParaRPr lang="ja-JP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第13回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EloquentデータUPDATE（2/2）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3904488"/>
          </a:xfrm>
          <a:prstGeom prst="rect">
            <a:avLst/>
          </a:prstGeom>
          <a:solidFill>
            <a:srgbClr val="F8F8FF"/>
          </a:solidFill>
          <a:ln w="12700">
            <a:solidFill>
              <a:srgbClr val="C5CA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solidFill>
            <a:srgbClr val="E8EAF0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84048" y="850392"/>
            <a:ext cx="128016" cy="128016"/>
          </a:xfrm>
          <a:prstGeom prst="ellipse">
            <a:avLst/>
          </a:prstGeom>
          <a:solidFill>
            <a:srgbClr val="E3342F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21792" y="850392"/>
            <a:ext cx="128016" cy="128016"/>
          </a:xfrm>
          <a:prstGeom prst="ellipse">
            <a:avLst/>
          </a:prstGeom>
          <a:solidFill>
            <a:srgbClr val="EFBB12"/>
          </a:solidFill>
          <a:ln w="12700">
            <a:solidFill>
              <a:srgbClr val="EFBB1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59536" y="850392"/>
            <a:ext cx="128016" cy="128016"/>
          </a:xfrm>
          <a:prstGeom prst="ellipse">
            <a:avLst/>
          </a:prstGeom>
          <a:solidFill>
            <a:srgbClr val="5BD75B"/>
          </a:solidFill>
          <a:ln w="12700">
            <a:solidFill>
              <a:srgbClr val="5BD7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28600" y="7680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EloquentデータUPDATE.php (2/2)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170432"/>
            <a:ext cx="832104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-&gt;with("success", "更新しました");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第13回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solidFill>
            <a:srgbClr val="7B0E22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D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23444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実行例：会員情報を更新する</a:t>
            </a:r>
            <a:endParaRPr lang="en-US" sz="190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" cy="4453128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solidFill>
            <a:srgbClr val="4F5B93"/>
          </a:solidFill>
          <a:ln w="12700">
            <a:solidFill>
              <a:srgbClr val="4F5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実行例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86868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B8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11480" y="1463040"/>
            <a:ext cx="8321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15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変更前：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名前「山田太郎」／メール「taro@example.com」。</a:t>
            </a:r>
            <a:endParaRPr lang="ja-JP"/>
          </a:p>
          <a:p>
            <a:pPr marL="0" indent="0" algn="l">
              <a:spcBef>
                <a:spcPts val="28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名前を「山田花子」に書き換えてフォームを送信する。</a:t>
            </a:r>
            <a:endParaRPr lang="ja-JP"/>
          </a:p>
          <a:p>
            <a:pPr marL="0" indent="0" algn="l">
              <a:spcBef>
                <a:spcPts val="28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動く処理：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PATCH /member/5 → update(["name"=&gt;"山田花子", ...])。</a:t>
            </a:r>
            <a:endParaRPr lang="ja-JP"/>
          </a:p>
          <a:p>
            <a:pPr marL="0" indent="0" algn="l">
              <a:spcBef>
                <a:spcPts val="28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DBの結果：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members テーブルの id=5 の name が「山田花子」に更新される。</a:t>
            </a:r>
            <a:endParaRPr lang="ja-JP"/>
          </a:p>
          <a:p>
            <a:pPr marL="0" indent="0" algn="l">
              <a:spcBef>
                <a:spcPts val="28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画面表示：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一覧に戻り「更新しました」というメッセージが表示される。</a:t>
            </a:r>
            <a:endParaRPr lang="ja-JP"/>
          </a:p>
          <a:p>
            <a:pPr marL="0" indent="0" algn="l">
              <a:spcBef>
                <a:spcPts val="400"/>
              </a:spcBef>
              <a:buNone/>
            </a:pPr>
            <a:r>
              <a:rPr lang="ja-JP" altLang="en-US" sz="1150" b="1">
                <a:solidFill>
                  <a:srgbClr val="4F5B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update()はsave()を内部で呼ぶため、取得から保存までを一括で行えます。</a:t>
            </a:r>
            <a:endParaRPr lang="ja-JP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第13回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solidFill>
            <a:srgbClr val="7B0E22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D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23444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セッション・ミドルウェア・認証(Auth)</a:t>
            </a:r>
            <a:endParaRPr lang="en-US" sz="190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" cy="4453128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solidFill>
            <a:srgbClr val="4F5B93"/>
          </a:solidFill>
          <a:ln w="12700">
            <a:solidFill>
              <a:srgbClr val="4F5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概念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86868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B8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11480" y="1463040"/>
            <a:ext cx="8321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セッションとは：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ページを移動しても情報を覚えておくサーバ側の仕組み。ログイン状態の保持などに使う。</a:t>
            </a:r>
            <a:endParaRPr lang="ja-JP"/>
          </a:p>
          <a:p>
            <a:pPr marL="0" indent="0" algn="l">
              <a:spcBef>
                <a:spcPts val="32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session()ヘルパー：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値の保存・取得・削除ができる便利な関数。</a:t>
            </a:r>
            <a:endParaRPr lang="ja-JP"/>
          </a:p>
          <a:p>
            <a:pPr marL="0" indent="0" algn="l">
              <a:spcBef>
                <a:spcPts val="32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ミドルウェアとは：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処理の前後に共通ルールを挟む「関所」。認証チェックなどに使う。</a:t>
            </a:r>
            <a:endParaRPr lang="ja-JP"/>
          </a:p>
          <a:p>
            <a:pPr marL="0" indent="0" algn="l">
              <a:spcBef>
                <a:spcPts val="32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認証（Auth）とは：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ログインしているユーザーを判定するLaravelの標準機能。</a:t>
            </a:r>
            <a:endParaRPr lang="ja-JP"/>
          </a:p>
          <a:p>
            <a:pPr marL="0" indent="0" algn="l">
              <a:spcBef>
                <a:spcPts val="32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使いどころ：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「ログイン必須ページ」をミドルウェアでまとめて保護できる。</a:t>
            </a:r>
            <a:endParaRPr lang="ja-JP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第13回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セッション管理とミドルウェア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3904488"/>
          </a:xfrm>
          <a:prstGeom prst="rect">
            <a:avLst/>
          </a:prstGeom>
          <a:solidFill>
            <a:srgbClr val="F8F8FF"/>
          </a:solidFill>
          <a:ln w="12700">
            <a:solidFill>
              <a:srgbClr val="C5CA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solidFill>
            <a:srgbClr val="E8EAF0"/>
          </a:solidFill>
          <a:ln w="1270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84048" y="850392"/>
            <a:ext cx="128016" cy="128016"/>
          </a:xfrm>
          <a:prstGeom prst="ellipse">
            <a:avLst/>
          </a:prstGeom>
          <a:solidFill>
            <a:srgbClr val="E3342F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21792" y="850392"/>
            <a:ext cx="128016" cy="128016"/>
          </a:xfrm>
          <a:prstGeom prst="ellipse">
            <a:avLst/>
          </a:prstGeom>
          <a:solidFill>
            <a:srgbClr val="EFBB12"/>
          </a:solidFill>
          <a:ln w="12700">
            <a:solidFill>
              <a:srgbClr val="EFBB1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59536" y="850392"/>
            <a:ext cx="128016" cy="128016"/>
          </a:xfrm>
          <a:prstGeom prst="ellipse">
            <a:avLst/>
          </a:prstGeom>
          <a:solidFill>
            <a:srgbClr val="5BD75B"/>
          </a:solidFill>
          <a:ln w="12700">
            <a:solidFill>
              <a:srgbClr val="5BD75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28600" y="7680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セッション管理とミドルウェア.php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170432"/>
            <a:ext cx="832104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セッションへの保存・取得・削除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session(["user_id" =&gt; $member-&gt;id]);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F5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$userId = session("user_id");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session()-&gt;forget("user_id");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ミドルウェアで認証必須ルートを設定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Route::middleware("auth")-&gt;group(function () {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Route::get("/member",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[MemberController::class, "index"]);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Route::get("/member/create",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[MemberController::class, "create"]);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未ログイン時は /login にリダイレクト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第13回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solidFill>
            <a:srgbClr val="7B0E22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D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23444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コード解説：セッションとミドルウェア</a:t>
            </a:r>
            <a:endParaRPr lang="en-US" sz="190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" cy="4453128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solidFill>
            <a:srgbClr val="4F5B93"/>
          </a:solidFill>
          <a:ln w="12700">
            <a:solidFill>
              <a:srgbClr val="4F5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コード解説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86868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B8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11480" y="1463040"/>
            <a:ext cx="8321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15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session(["user_id"=&gt;...])：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user_id をセッションに保存する。</a:t>
            </a:r>
            <a:endParaRPr lang="ja-JP"/>
          </a:p>
          <a:p>
            <a:pPr marL="0" indent="0" algn="l">
              <a:spcBef>
                <a:spcPts val="30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session("user_id")：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保存しておいた値を取り出す。</a:t>
            </a:r>
            <a:endParaRPr lang="ja-JP"/>
          </a:p>
          <a:p>
            <a:pPr marL="0" indent="0" algn="l">
              <a:spcBef>
                <a:spcPts val="30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session()-&gt;forget(...)：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指定した値を削除する（ログアウト等）。</a:t>
            </a:r>
            <a:endParaRPr lang="ja-JP"/>
          </a:p>
          <a:p>
            <a:pPr marL="0" indent="0" algn="l">
              <a:spcBef>
                <a:spcPts val="30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middleware("auth")-&gt;group：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中のルートすべてにログイン必須を適用する。</a:t>
            </a:r>
            <a:endParaRPr lang="ja-JP"/>
          </a:p>
          <a:p>
            <a:pPr marL="0" indent="0" algn="l">
              <a:spcBef>
                <a:spcPts val="30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グループ内のルート：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/member や /member/create が保護対象になる。</a:t>
            </a:r>
            <a:endParaRPr lang="ja-JP"/>
          </a:p>
          <a:p>
            <a:pPr marL="0" indent="0" algn="l">
              <a:spcBef>
                <a:spcPts val="30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未ログイン時：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自動で /login にリダイレクトされる。</a:t>
            </a:r>
            <a:endParaRPr lang="ja-JP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第13回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solidFill>
            <a:srgbClr val="7B0E22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D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23444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実行例：ログイン状態による動作</a:t>
            </a:r>
            <a:endParaRPr lang="en-US" sz="190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" cy="4453128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solidFill>
            <a:srgbClr val="4F5B93"/>
          </a:solidFill>
          <a:ln w="12700">
            <a:solidFill>
              <a:srgbClr val="4F5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実行例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86868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B8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11480" y="1463040"/>
            <a:ext cx="8321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ログイン済み：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/member にアクセスすると、一覧がそのまま表示される。</a:t>
            </a:r>
            <a:endParaRPr lang="ja-JP"/>
          </a:p>
          <a:p>
            <a:pPr marL="0" indent="0" algn="l">
              <a:spcBef>
                <a:spcPts val="32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未ログイン：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/member にアクセスすると、/login へ自動で移動する。</a:t>
            </a:r>
            <a:endParaRPr lang="ja-JP"/>
          </a:p>
          <a:p>
            <a:pPr marL="0" indent="0" algn="l">
              <a:spcBef>
                <a:spcPts val="32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ログイン処理：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認証に成功したら session に user_id を保存する。</a:t>
            </a:r>
            <a:endParaRPr lang="ja-JP"/>
          </a:p>
          <a:p>
            <a:pPr marL="0" indent="0" algn="l">
              <a:spcBef>
                <a:spcPts val="32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ログアウト：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forget でセッションを消すと、保護ページに入れなくなる。</a:t>
            </a:r>
            <a:endParaRPr lang="ja-JP"/>
          </a:p>
          <a:p>
            <a:pPr marL="0" indent="0" algn="l">
              <a:spcBef>
                <a:spcPts val="400"/>
              </a:spcBef>
              <a:buNone/>
            </a:pPr>
            <a:r>
              <a:rPr lang="ja-JP" altLang="en-US" sz="1150" b="1">
                <a:solidFill>
                  <a:srgbClr val="4F5B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authミドルウェアが「入口でログインを確認する関所」の役割を果たします。</a:t>
            </a:r>
            <a:endParaRPr lang="ja-JP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第13回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solidFill>
            <a:srgbClr val="7B0E22"/>
          </a:solidFill>
          <a:ln w="12700">
            <a:solidFill>
              <a:srgbClr val="E334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D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23444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まとめ：本日のポイント</a:t>
            </a:r>
            <a:endParaRPr lang="en-US" sz="190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" cy="4453128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solidFill>
            <a:srgbClr val="4F5B93"/>
          </a:solidFill>
          <a:ln w="12700">
            <a:solidFill>
              <a:srgbClr val="4F5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まとめ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86868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B8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11480" y="1463040"/>
            <a:ext cx="8321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更新処理：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findOrFail → update() で取得・保存し、redirectで一覧へ戻す。</a:t>
            </a:r>
            <a:endParaRPr lang="ja-JP"/>
          </a:p>
          <a:p>
            <a:pPr marL="0" indent="0" algn="l">
              <a:spcBef>
                <a:spcPts val="32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役割分担：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ルーティングとコントローラで処理を分けると読みやすい。</a:t>
            </a:r>
            <a:endParaRPr lang="ja-JP"/>
          </a:p>
          <a:p>
            <a:pPr marL="0" indent="0" algn="l">
              <a:spcBef>
                <a:spcPts val="32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session() で情報を保存・取得・削除できる。</a:t>
            </a:r>
            <a:endParaRPr lang="ja-JP"/>
          </a:p>
          <a:p>
            <a:pPr marL="0" indent="0" algn="l">
              <a:spcBef>
                <a:spcPts val="32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ミドルウェア：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auth で「ログイン必須ページ」をまとめて守れる。</a:t>
            </a:r>
            <a:endParaRPr lang="ja-JP"/>
          </a:p>
          <a:p>
            <a:pPr marL="0" indent="0" algn="l">
              <a:spcBef>
                <a:spcPts val="320"/>
              </a:spcBef>
              <a:buNone/>
            </a:pPr>
            <a:r>
              <a:rPr lang="ja-JP" altLang="en-US" sz="1250" b="1">
                <a:solidFill>
                  <a:srgbClr val="7B0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次のステップ：</a:t>
            </a:r>
            <a:r>
              <a:rPr lang="ja-JP" altLang="en-US" sz="1250">
                <a:solidFill>
                  <a:srgbClr val="3D3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入力チェック（バリデーション）や編集フォーム作成にも挑戦しよう。</a:t>
            </a:r>
            <a:endParaRPr lang="ja-JP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7B0E22"/>
          </a:solidFill>
          <a:ln w="12700">
            <a:solidFill>
              <a:srgbClr val="7B0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PH27  第13回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エンドポイントプログラミング（PHP）  2026年度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1441</Words>
  <Application>Microsoft Office PowerPoint</Application>
  <PresentationFormat>画面に合わせる (16:9)</PresentationFormat>
  <Paragraphs>155</Paragraphs>
  <Slides>13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9" baseType="lpstr">
      <vt:lpstr>Yu Gothic</vt:lpstr>
      <vt:lpstr>Arial</vt:lpstr>
      <vt:lpstr>Arial Black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PH27 第13回 EloquentデータUPDATEと関数 / セッション管理・ミドルウェア</dc:title>
  <dc:subject>PptxGenJS Presentation</dc:subject>
  <dc:creator>高橋 真広</dc:creator>
  <cp:lastModifiedBy>NH-STAFF 高橋真広</cp:lastModifiedBy>
  <cp:revision>1</cp:revision>
  <dcterms:created xsi:type="dcterms:W3CDTF">2026-04-01T02:13:36Z</dcterms:created>
  <dcterms:modified xsi:type="dcterms:W3CDTF">2026-07-14T08:43:10Z</dcterms:modified>
</cp:coreProperties>
</file>