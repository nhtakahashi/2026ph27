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0" r:id="rId5"/>
    <p:sldId id="261" r:id="rId6"/>
    <p:sldId id="259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76EE8D-3193-4E28-965C-8691D86D9DA8}" v="1" dt="2026-09-01T06:24:12.6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H-STAFF 高橋真広" userId="60c902bb-f64f-40cf-869e-8386dac879fa" providerId="ADAL" clId="{197FCEB1-7BDE-427E-8CF6-88E508DDC1C7}"/>
    <pc:docChg chg="undo custSel addSld modSld">
      <pc:chgData name="NH-STAFF 高橋真広" userId="60c902bb-f64f-40cf-869e-8386dac879fa" providerId="ADAL" clId="{197FCEB1-7BDE-427E-8CF6-88E508DDC1C7}" dt="2026-09-01T06:24:25.494" v="33" actId="20577"/>
      <pc:docMkLst>
        <pc:docMk/>
      </pc:docMkLst>
      <pc:sldChg chg="modSp mod">
        <pc:chgData name="NH-STAFF 高橋真広" userId="60c902bb-f64f-40cf-869e-8386dac879fa" providerId="ADAL" clId="{197FCEB1-7BDE-427E-8CF6-88E508DDC1C7}" dt="2026-09-01T06:07:13.142" v="0" actId="26606"/>
        <pc:sldMkLst>
          <pc:docMk/>
          <pc:sldMk cId="0" sldId="257"/>
        </pc:sldMkLst>
        <pc:spChg chg="mod">
          <ac:chgData name="NH-STAFF 高橋真広" userId="60c902bb-f64f-40cf-869e-8386dac879fa" providerId="ADAL" clId="{197FCEB1-7BDE-427E-8CF6-88E508DDC1C7}" dt="2026-09-01T06:07:13.142" v="0" actId="26606"/>
          <ac:spMkLst>
            <pc:docMk/>
            <pc:sldMk cId="0" sldId="257"/>
            <ac:spMk id="10" creationId="{00000000-0000-0000-0000-000000000000}"/>
          </ac:spMkLst>
        </pc:spChg>
      </pc:sldChg>
      <pc:sldChg chg="modSp add mod">
        <pc:chgData name="NH-STAFF 高橋真広" userId="60c902bb-f64f-40cf-869e-8386dac879fa" providerId="ADAL" clId="{197FCEB1-7BDE-427E-8CF6-88E508DDC1C7}" dt="2026-09-01T06:24:25.494" v="33" actId="20577"/>
        <pc:sldMkLst>
          <pc:docMk/>
          <pc:sldMk cId="0" sldId="260"/>
        </pc:sldMkLst>
        <pc:spChg chg="mod">
          <ac:chgData name="NH-STAFF 高橋真広" userId="60c902bb-f64f-40cf-869e-8386dac879fa" providerId="ADAL" clId="{197FCEB1-7BDE-427E-8CF6-88E508DDC1C7}" dt="2026-09-01T06:24:25.494" v="33" actId="20577"/>
          <ac:spMkLst>
            <pc:docMk/>
            <pc:sldMk cId="0" sldId="260"/>
            <ac:spMk id="11" creationId="{00000000-0000-0000-0000-000000000000}"/>
          </ac:spMkLst>
        </pc:spChg>
      </pc:sldChg>
      <pc:sldChg chg="add">
        <pc:chgData name="NH-STAFF 高橋真広" userId="60c902bb-f64f-40cf-869e-8386dac879fa" providerId="ADAL" clId="{197FCEB1-7BDE-427E-8CF6-88E508DDC1C7}" dt="2026-09-01T06:07:13.142" v="0" actId="26606"/>
        <pc:sldMkLst>
          <pc:docMk/>
          <pc:sldMk cId="0" sldId="261"/>
        </pc:sldMkLst>
      </pc:sldChg>
      <pc:sldChg chg="add">
        <pc:chgData name="NH-STAFF 高橋真広" userId="60c902bb-f64f-40cf-869e-8386dac879fa" providerId="ADAL" clId="{197FCEB1-7BDE-427E-8CF6-88E508DDC1C7}" dt="2026-09-01T06:07:13.142" v="0" actId="26606"/>
        <pc:sldMkLst>
          <pc:docMk/>
          <pc:sldMk cId="0" sldId="262"/>
        </pc:sldMkLst>
      </pc:sldChg>
      <pc:sldChg chg="add">
        <pc:chgData name="NH-STAFF 高橋真広" userId="60c902bb-f64f-40cf-869e-8386dac879fa" providerId="ADAL" clId="{197FCEB1-7BDE-427E-8CF6-88E508DDC1C7}" dt="2026-09-01T06:07:13.142" v="0" actId="26606"/>
        <pc:sldMkLst>
          <pc:docMk/>
          <pc:sldMk cId="0" sldId="26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5221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B0E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097280"/>
            <a:ext cx="3657600" cy="3657600"/>
          </a:xfrm>
          <a:prstGeom prst="ellipse">
            <a:avLst/>
          </a:prstGeom>
          <a:solidFill>
            <a:srgbClr val="B22222">
              <a:alpha val="25000"/>
            </a:srgbClr>
          </a:solidFill>
          <a:ln w="12700">
            <a:solidFill>
              <a:srgbClr val="E334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3342F"/>
          </a:solidFill>
          <a:ln w="12700">
            <a:solidFill>
              <a:srgbClr val="E334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E3342F">
              <a:alpha val="80000"/>
            </a:srgbClr>
          </a:solidFill>
          <a:ln w="12700">
            <a:solidFill>
              <a:srgbClr val="E334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20040" y="256032"/>
            <a:ext cx="2377440" cy="566928"/>
          </a:xfrm>
          <a:prstGeom prst="rect">
            <a:avLst/>
          </a:prstGeom>
          <a:solidFill>
            <a:srgbClr val="E3342F"/>
          </a:solidFill>
          <a:ln w="12700">
            <a:solidFill>
              <a:srgbClr val="E334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320040" y="25603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PH27  第11回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834640" y="292608"/>
            <a:ext cx="777240" cy="50292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2834640" y="292608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7月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" y="960120"/>
            <a:ext cx="8503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EloquentでSELECT・DELETE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0040" y="3108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D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単元 11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28600" y="4617720"/>
            <a:ext cx="86868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B0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エンドポイントプログラミング（PHP）  |  Laravel  |  2026年度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182880" y="91440"/>
            <a:ext cx="914400" cy="530352"/>
          </a:xfrm>
          <a:prstGeom prst="rect">
            <a:avLst/>
          </a:prstGeom>
          <a:solidFill>
            <a:srgbClr val="7B0E22"/>
          </a:solidFill>
          <a:ln w="12700">
            <a:solidFill>
              <a:srgbClr val="E334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182880" y="9144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DE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34440" y="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EloquentでSELECT・DELETE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0" y="713232"/>
            <a:ext cx="91440" cy="4453128"/>
          </a:xfrm>
          <a:prstGeom prst="rect">
            <a:avLst/>
          </a:prstGeom>
          <a:solidFill>
            <a:srgbClr val="8892BF"/>
          </a:solidFill>
          <a:ln w="12700">
            <a:solidFill>
              <a:srgbClr val="8892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1463040" cy="320040"/>
          </a:xfrm>
          <a:prstGeom prst="rect">
            <a:avLst/>
          </a:prstGeom>
          <a:solidFill>
            <a:srgbClr val="4F5B93"/>
          </a:solidFill>
          <a:ln w="12700">
            <a:solidFill>
              <a:srgbClr val="4F5B9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228600" y="9601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講義内容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" y="1371600"/>
            <a:ext cx="868680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B8B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411480" y="1463040"/>
            <a:ext cx="8321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>
                <a:solidFill>
                  <a:srgbClr val="7B0E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本回のねらい：Eloquentを使って「データを取り出す」「消す」流れを一通り身につける。</a:t>
            </a:r>
            <a:endParaRPr lang="en-US" sz="1400"/>
          </a:p>
          <a:p>
            <a:pPr marL="0" indent="0" algn="l">
              <a:buNone/>
            </a:pPr>
            <a:r>
              <a:rPr lang="en-US" sz="1000">
                <a:solidFill>
                  <a:srgbClr val="3D3D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</a:t>
            </a:r>
            <a:endParaRPr lang="en-US" sz="1000"/>
          </a:p>
          <a:p>
            <a:pPr marL="0" indent="0" algn="l">
              <a:buNone/>
            </a:pPr>
            <a:r>
              <a:rPr lang="en-US" sz="1400">
                <a:solidFill>
                  <a:srgbClr val="3D3D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 SELECTの基本 … all() / find() / findOrFail() の違いと使い分け</a:t>
            </a:r>
            <a:endParaRPr lang="en-US" sz="1400"/>
          </a:p>
          <a:p>
            <a:pPr marL="0" indent="0" algn="l">
              <a:buNone/>
            </a:pPr>
            <a:r>
              <a:rPr lang="en-US" sz="1400">
                <a:solidFill>
                  <a:srgbClr val="3D3D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 検索条件 … where() / orWhere() / orderBy() / paginate() で絞り込みと並び替え</a:t>
            </a:r>
            <a:endParaRPr lang="en-US" sz="1400"/>
          </a:p>
          <a:p>
            <a:pPr marL="0" indent="0" algn="l">
              <a:buNone/>
            </a:pPr>
            <a:r>
              <a:rPr lang="en-US" sz="1400">
                <a:solidFill>
                  <a:srgbClr val="3D3D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 一覧表示 … コントローラからBladeへ渡し、@forelse でテーブル表示</a:t>
            </a:r>
            <a:endParaRPr lang="en-US" sz="1400"/>
          </a:p>
          <a:p>
            <a:pPr marL="0" indent="0" algn="l">
              <a:buNone/>
            </a:pPr>
            <a:r>
              <a:rPr lang="en-US" sz="1400">
                <a:solidFill>
                  <a:srgbClr val="3D3D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4. DELETE … ルート定義・destroy()・@method("DELETE") とCSRF対策</a:t>
            </a:r>
            <a:endParaRPr lang="en-US" sz="1400"/>
          </a:p>
          <a:p>
            <a:pPr marL="0" indent="0" algn="l">
              <a:buNone/>
            </a:pPr>
            <a:r>
              <a:rPr lang="en-US" sz="1400">
                <a:solidFill>
                  <a:srgbClr val="3D3D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5. 削除の注意点 … 確認ダイアログとSoftDeletes（論理削除）</a:t>
            </a:r>
            <a:endParaRPr lang="en-US" sz="1400"/>
          </a:p>
          <a:p>
            <a:pPr marL="0" indent="0" algn="l">
              <a:buNone/>
            </a:pPr>
            <a:r>
              <a:rPr lang="en-US" sz="1000">
                <a:solidFill>
                  <a:srgbClr val="3D3D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</a:t>
            </a:r>
            <a:endParaRPr lang="en-US" sz="1000"/>
          </a:p>
          <a:p>
            <a:pPr marL="0" indent="0" algn="l">
              <a:buNone/>
            </a:pPr>
            <a:r>
              <a:rPr lang="en-US" sz="1400" b="1">
                <a:solidFill>
                  <a:srgbClr val="7B0E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ゴール：会員一覧の検索・表示・削除が動くところまで自力で実装できる。</a:t>
            </a:r>
            <a:endParaRPr lang="en-US" sz="1400"/>
          </a:p>
        </p:txBody>
      </p:sp>
      <p:sp>
        <p:nvSpPr>
          <p:cNvPr id="11" name="Shape 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7B0E22"/>
          </a:solidFill>
          <a:ln w="12700">
            <a:solidFill>
              <a:srgbClr val="7B0E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274320" y="4709160"/>
            <a:ext cx="3657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D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PH27  第11回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0" y="4709160"/>
            <a:ext cx="56692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D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エンドポイントプログラミング（PHP）  2026年度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EloquentでSELECT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91440" cy="4457700"/>
          </a:xfrm>
          <a:prstGeom prst="rect">
            <a:avLst/>
          </a:prstGeom>
          <a:solidFill>
            <a:srgbClr val="8892BF"/>
          </a:solidFill>
          <a:ln w="12700">
            <a:solidFill>
              <a:srgbClr val="8892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228600" y="749808"/>
            <a:ext cx="8686800" cy="3904488"/>
          </a:xfrm>
          <a:prstGeom prst="rect">
            <a:avLst/>
          </a:prstGeom>
          <a:solidFill>
            <a:srgbClr val="F8F8FF"/>
          </a:solidFill>
          <a:ln w="12700">
            <a:solidFill>
              <a:srgbClr val="C5CAE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228600" y="749808"/>
            <a:ext cx="8686800" cy="347472"/>
          </a:xfrm>
          <a:prstGeom prst="rect">
            <a:avLst/>
          </a:prstGeom>
          <a:solidFill>
            <a:srgbClr val="E8EAF0"/>
          </a:solidFill>
          <a:ln w="12700">
            <a:solidFill>
              <a:srgbClr val="C5CAE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384048" y="850392"/>
            <a:ext cx="128016" cy="128016"/>
          </a:xfrm>
          <a:prstGeom prst="ellipse">
            <a:avLst/>
          </a:prstGeom>
          <a:solidFill>
            <a:srgbClr val="E3342F"/>
          </a:solidFill>
          <a:ln w="12700">
            <a:solidFill>
              <a:srgbClr val="E334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621792" y="850392"/>
            <a:ext cx="128016" cy="128016"/>
          </a:xfrm>
          <a:prstGeom prst="ellipse">
            <a:avLst/>
          </a:prstGeom>
          <a:solidFill>
            <a:srgbClr val="EFBB12"/>
          </a:solidFill>
          <a:ln w="12700">
            <a:solidFill>
              <a:srgbClr val="EFBB1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859536" y="850392"/>
            <a:ext cx="128016" cy="128016"/>
          </a:xfrm>
          <a:prstGeom prst="ellipse">
            <a:avLst/>
          </a:prstGeom>
          <a:solidFill>
            <a:srgbClr val="5BD75B"/>
          </a:solidFill>
          <a:ln w="12700">
            <a:solidFill>
              <a:srgbClr val="5BD75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228600" y="768096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EloquentでSELECT.php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1170432"/>
            <a:ext cx="8321040" cy="3374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全件取得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F5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$members = Member::all();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ID指定で1件取得（見つからなければ404）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F5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$member = Member::findOrFail($id);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条件付き取得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F5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$results = Member::where("name", "like",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"%田中%")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-&gt;orderBy("created_at", "desc")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-&gt;get();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Bladeで表示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@foreach ($members as $m)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50" dirty="0">
                <a:solidFill>
                  <a:srgbClr val="1976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&lt;td&gt;</a:t>
            </a: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 $m-&gt;name }}</a:t>
            </a:r>
            <a:r>
              <a:rPr lang="en-US" sz="1250" dirty="0">
                <a:solidFill>
                  <a:srgbClr val="1976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&lt;/td&gt;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50" dirty="0">
                <a:solidFill>
                  <a:srgbClr val="1976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&lt;td&gt;</a:t>
            </a: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 $m-&gt;email }}</a:t>
            </a:r>
            <a:r>
              <a:rPr lang="en-US" sz="1250" dirty="0">
                <a:solidFill>
                  <a:srgbClr val="1976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&lt;/td&gt;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@endforeach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7B0E22"/>
          </a:solidFill>
          <a:ln w="12700">
            <a:solidFill>
              <a:srgbClr val="7B0E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274320" y="4709160"/>
            <a:ext cx="3657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D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PH27  第11回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4709160"/>
            <a:ext cx="56692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D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エンドポイントプログラミング（PHP）  2026年度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検索条件と並び替え・ページネーション</a:t>
            </a:r>
            <a:endParaRPr lang="en-US" sz="220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91440" cy="4457700"/>
          </a:xfrm>
          <a:prstGeom prst="rect">
            <a:avLst/>
          </a:prstGeom>
          <a:solidFill>
            <a:srgbClr val="8892BF"/>
          </a:solidFill>
          <a:ln w="12700">
            <a:solidFill>
              <a:srgbClr val="8892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228600" y="749808"/>
            <a:ext cx="8686800" cy="3904488"/>
          </a:xfrm>
          <a:prstGeom prst="rect">
            <a:avLst/>
          </a:prstGeom>
          <a:solidFill>
            <a:srgbClr val="F8F8FF"/>
          </a:solidFill>
          <a:ln w="12700">
            <a:solidFill>
              <a:srgbClr val="C5CAE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228600" y="749808"/>
            <a:ext cx="8686800" cy="347472"/>
          </a:xfrm>
          <a:prstGeom prst="rect">
            <a:avLst/>
          </a:prstGeom>
          <a:solidFill>
            <a:srgbClr val="E8EAF0"/>
          </a:solidFill>
          <a:ln w="12700">
            <a:solidFill>
              <a:srgbClr val="C5CAE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384048" y="850392"/>
            <a:ext cx="128016" cy="128016"/>
          </a:xfrm>
          <a:prstGeom prst="ellipse">
            <a:avLst/>
          </a:prstGeom>
          <a:solidFill>
            <a:srgbClr val="E3342F"/>
          </a:solidFill>
          <a:ln w="12700">
            <a:solidFill>
              <a:srgbClr val="E334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621792" y="850392"/>
            <a:ext cx="128016" cy="128016"/>
          </a:xfrm>
          <a:prstGeom prst="ellipse">
            <a:avLst/>
          </a:prstGeom>
          <a:solidFill>
            <a:srgbClr val="EFBB12"/>
          </a:solidFill>
          <a:ln w="12700">
            <a:solidFill>
              <a:srgbClr val="EFBB1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859536" y="850392"/>
            <a:ext cx="128016" cy="128016"/>
          </a:xfrm>
          <a:prstGeom prst="ellipse">
            <a:avLst/>
          </a:prstGeom>
          <a:solidFill>
            <a:srgbClr val="5BD75B"/>
          </a:solidFill>
          <a:ln w="12700">
            <a:solidFill>
              <a:srgbClr val="5BD75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228600" y="768096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検索条件とページネーション.php</a:t>
            </a:r>
            <a:endParaRPr lang="en-US" sz="1100"/>
          </a:p>
        </p:txBody>
      </p:sp>
      <p:sp>
        <p:nvSpPr>
          <p:cNvPr id="11" name="Text 9"/>
          <p:cNvSpPr/>
          <p:nvPr/>
        </p:nvSpPr>
        <p:spPr>
          <a:xfrm>
            <a:off x="384048" y="1170432"/>
            <a:ext cx="8321040" cy="3374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r>
              <a:rPr lang="en-US" sz="1250" dirty="0" err="1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部分一致検索（キーワードが空なら全件</a:t>
            </a:r>
            <a:r>
              <a:rPr lang="en-US" sz="12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）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F5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$keyword = $request-&gt;input("keyword");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F5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$query = Member::query();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(!empty($keyword)) {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F5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$query-&gt;where("name", "like", "%{$keyword}%")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-&gt;</a:t>
            </a:r>
            <a:r>
              <a:rPr lang="en-US" sz="1250" dirty="0" err="1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orWhere</a:t>
            </a: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("email", "like", "%{$keyword}%");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r>
              <a:rPr lang="en-US" sz="1250" dirty="0" err="1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複数条件・並び替え・件数制限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F5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$members = $query-&gt;where("status", "active")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-&gt;</a:t>
            </a:r>
            <a:r>
              <a:rPr lang="en-US" sz="1250" dirty="0" err="1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orderBy</a:t>
            </a: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</a:t>
            </a:r>
            <a:r>
              <a:rPr lang="en-US" sz="1250" dirty="0" err="1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</a:t>
            </a: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 "desc")</a:t>
            </a:r>
            <a:endParaRPr lang="en-US" sz="1250" dirty="0"/>
          </a:p>
          <a:p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-&gt;paginate(10);</a:t>
            </a:r>
            <a:r>
              <a:rPr lang="en-US" altLang="ja-JP" sz="12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// </a:t>
            </a:r>
            <a:r>
              <a:rPr lang="ja-JP" altLang="en-US" sz="12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ページネート（ページング）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F5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$latest = Member::latest()-&gt;first();  // 先頭1件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r>
              <a:rPr lang="en-US" sz="1250" dirty="0" err="1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よく使うメソッド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get() </a:t>
            </a:r>
            <a:r>
              <a:rPr lang="en-US" sz="1250" dirty="0" err="1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複数件</a:t>
            </a:r>
            <a:r>
              <a:rPr lang="en-US" sz="12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count() </a:t>
            </a:r>
            <a:r>
              <a:rPr lang="en-US" sz="1250" dirty="0" err="1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件数</a:t>
            </a:r>
            <a:r>
              <a:rPr lang="en-US" sz="12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exists() </a:t>
            </a:r>
            <a:r>
              <a:rPr lang="en-US" sz="1250" dirty="0" err="1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存在確認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7B0E22"/>
          </a:solidFill>
          <a:ln w="12700">
            <a:solidFill>
              <a:srgbClr val="7B0E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274320" y="4709160"/>
            <a:ext cx="3657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FD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PH27  第11回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3200400" y="4709160"/>
            <a:ext cx="56692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FD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エンドポイントプログラミング（PHP）  2026年度</a:t>
            </a:r>
            <a:endParaRPr lang="en-US"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一覧画面への表示（Blade）</a:t>
            </a:r>
            <a:endParaRPr lang="en-US" sz="220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91440" cy="4457700"/>
          </a:xfrm>
          <a:prstGeom prst="rect">
            <a:avLst/>
          </a:prstGeom>
          <a:solidFill>
            <a:srgbClr val="8892BF"/>
          </a:solidFill>
          <a:ln w="12700">
            <a:solidFill>
              <a:srgbClr val="8892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228600" y="749808"/>
            <a:ext cx="8686800" cy="3904488"/>
          </a:xfrm>
          <a:prstGeom prst="rect">
            <a:avLst/>
          </a:prstGeom>
          <a:solidFill>
            <a:srgbClr val="F8F8FF"/>
          </a:solidFill>
          <a:ln w="12700">
            <a:solidFill>
              <a:srgbClr val="C5CAE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228600" y="749808"/>
            <a:ext cx="8686800" cy="347472"/>
          </a:xfrm>
          <a:prstGeom prst="rect">
            <a:avLst/>
          </a:prstGeom>
          <a:solidFill>
            <a:srgbClr val="E8EAF0"/>
          </a:solidFill>
          <a:ln w="12700">
            <a:solidFill>
              <a:srgbClr val="C5CAE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384048" y="850392"/>
            <a:ext cx="128016" cy="128016"/>
          </a:xfrm>
          <a:prstGeom prst="ellipse">
            <a:avLst/>
          </a:prstGeom>
          <a:solidFill>
            <a:srgbClr val="E3342F"/>
          </a:solidFill>
          <a:ln w="12700">
            <a:solidFill>
              <a:srgbClr val="E334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621792" y="850392"/>
            <a:ext cx="128016" cy="128016"/>
          </a:xfrm>
          <a:prstGeom prst="ellipse">
            <a:avLst/>
          </a:prstGeom>
          <a:solidFill>
            <a:srgbClr val="EFBB12"/>
          </a:solidFill>
          <a:ln w="12700">
            <a:solidFill>
              <a:srgbClr val="EFBB1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859536" y="850392"/>
            <a:ext cx="128016" cy="128016"/>
          </a:xfrm>
          <a:prstGeom prst="ellipse">
            <a:avLst/>
          </a:prstGeom>
          <a:solidFill>
            <a:srgbClr val="5BD75B"/>
          </a:solidFill>
          <a:ln w="12700">
            <a:solidFill>
              <a:srgbClr val="5BD75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228600" y="768096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member_index.blade.php</a:t>
            </a:r>
            <a:endParaRPr lang="en-US" sz="1100"/>
          </a:p>
        </p:txBody>
      </p:sp>
      <p:sp>
        <p:nvSpPr>
          <p:cNvPr id="11" name="Text 9"/>
          <p:cNvSpPr/>
          <p:nvPr/>
        </p:nvSpPr>
        <p:spPr>
          <a:xfrm>
            <a:off x="384048" y="1170432"/>
            <a:ext cx="8321040" cy="3374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r>
              <a:rPr lang="en-US" sz="1250" dirty="0" err="1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コントローラ側：ビューへデータを渡す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F5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function index(Request $request) {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F5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$members = Member::</a:t>
            </a:r>
            <a:r>
              <a:rPr lang="en-US" sz="1250" dirty="0" err="1">
                <a:solidFill>
                  <a:srgbClr val="4F5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orderBy</a:t>
            </a:r>
            <a:r>
              <a:rPr lang="en-US" sz="1250" dirty="0">
                <a:solidFill>
                  <a:srgbClr val="4F5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("id")-&gt;paginate(10);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view("</a:t>
            </a:r>
            <a:r>
              <a:rPr lang="en-US" sz="1250" dirty="0" err="1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member.index</a:t>
            </a: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 compact("members"));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976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&lt;table class="table"&gt;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976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@forelse ($members as $m)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976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&lt;tr&gt;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976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&lt;td&gt;{{ $m-&gt;id }}&lt;/td&gt;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976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&lt;td&gt;{{ $m-&gt;name }}&lt;/td&gt;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976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&lt;td&gt;&lt;a </a:t>
            </a:r>
            <a:r>
              <a:rPr lang="en-US" sz="1250" dirty="0" err="1">
                <a:solidFill>
                  <a:srgbClr val="1976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href</a:t>
            </a:r>
            <a:r>
              <a:rPr lang="en-US" sz="1250" dirty="0">
                <a:solidFill>
                  <a:srgbClr val="1976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="/member/{{ $m-&gt;id }}"&gt;</a:t>
            </a:r>
            <a:r>
              <a:rPr lang="en-US" sz="1250" dirty="0" err="1">
                <a:solidFill>
                  <a:srgbClr val="1976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詳細</a:t>
            </a:r>
            <a:r>
              <a:rPr lang="en-US" sz="1250" dirty="0">
                <a:solidFill>
                  <a:srgbClr val="1976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&lt;/a&gt;&lt;/td&gt;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976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&lt;/tr&gt;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976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@empty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976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&lt;tr&gt;&lt;td </a:t>
            </a:r>
            <a:r>
              <a:rPr lang="en-US" sz="1250" dirty="0" err="1">
                <a:solidFill>
                  <a:srgbClr val="1976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colspan</a:t>
            </a:r>
            <a:r>
              <a:rPr lang="en-US" sz="1250" dirty="0">
                <a:solidFill>
                  <a:srgbClr val="1976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="4"&gt;</a:t>
            </a:r>
            <a:r>
              <a:rPr lang="en-US" sz="1250" dirty="0" err="1">
                <a:solidFill>
                  <a:srgbClr val="1976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データがありません</a:t>
            </a:r>
            <a:r>
              <a:rPr lang="en-US" sz="1250" dirty="0">
                <a:solidFill>
                  <a:srgbClr val="1976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&lt;/td&gt;&lt;/tr&gt;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976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@endforelse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976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&lt;/table&gt;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 $members-&gt;links() }}   // </a:t>
            </a:r>
            <a:r>
              <a:rPr lang="en-US" sz="1250" dirty="0" err="1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ページリンク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7B0E22"/>
          </a:solidFill>
          <a:ln w="12700">
            <a:solidFill>
              <a:srgbClr val="7B0E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274320" y="4709160"/>
            <a:ext cx="3657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FD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PH27  第11回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3200400" y="4709160"/>
            <a:ext cx="56692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FD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エンドポイントプログラミング（PHP）  2026年度</a:t>
            </a:r>
            <a:endParaRPr lang="en-US"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EloquentでDELETE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91440" cy="4457700"/>
          </a:xfrm>
          <a:prstGeom prst="rect">
            <a:avLst/>
          </a:prstGeom>
          <a:solidFill>
            <a:srgbClr val="8892BF"/>
          </a:solidFill>
          <a:ln w="12700">
            <a:solidFill>
              <a:srgbClr val="8892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228600" y="749808"/>
            <a:ext cx="8686800" cy="3904488"/>
          </a:xfrm>
          <a:prstGeom prst="rect">
            <a:avLst/>
          </a:prstGeom>
          <a:solidFill>
            <a:srgbClr val="F8F8FF"/>
          </a:solidFill>
          <a:ln w="12700">
            <a:solidFill>
              <a:srgbClr val="C5CAE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228600" y="749808"/>
            <a:ext cx="8686800" cy="347472"/>
          </a:xfrm>
          <a:prstGeom prst="rect">
            <a:avLst/>
          </a:prstGeom>
          <a:solidFill>
            <a:srgbClr val="E8EAF0"/>
          </a:solidFill>
          <a:ln w="12700">
            <a:solidFill>
              <a:srgbClr val="C5CAE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384048" y="850392"/>
            <a:ext cx="128016" cy="128016"/>
          </a:xfrm>
          <a:prstGeom prst="ellipse">
            <a:avLst/>
          </a:prstGeom>
          <a:solidFill>
            <a:srgbClr val="E3342F"/>
          </a:solidFill>
          <a:ln w="12700">
            <a:solidFill>
              <a:srgbClr val="E334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621792" y="850392"/>
            <a:ext cx="128016" cy="128016"/>
          </a:xfrm>
          <a:prstGeom prst="ellipse">
            <a:avLst/>
          </a:prstGeom>
          <a:solidFill>
            <a:srgbClr val="EFBB12"/>
          </a:solidFill>
          <a:ln w="12700">
            <a:solidFill>
              <a:srgbClr val="EFBB1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859536" y="850392"/>
            <a:ext cx="128016" cy="128016"/>
          </a:xfrm>
          <a:prstGeom prst="ellipse">
            <a:avLst/>
          </a:prstGeom>
          <a:solidFill>
            <a:srgbClr val="5BD75B"/>
          </a:solidFill>
          <a:ln w="12700">
            <a:solidFill>
              <a:srgbClr val="5BD75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228600" y="768096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EloquentでDELETE.php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1170432"/>
            <a:ext cx="8321040" cy="3374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Route::delete("/member/{id}",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[MemberController::class, "destroy"]);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function destroy($id) {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F5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$member = Member::findOrFail($id);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F5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$member-&gt;delete();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redirect("/member")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-&gt;with("success", "削除しました");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Bladeフォーム（DELETEメソッドの偽装）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976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</a:t>
            </a: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>
                <a:solidFill>
                  <a:srgbClr val="6A1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</a:t>
            </a: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2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"POST"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action="/member/{{ $m-&gt;id }}"&gt;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@csrf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@method("DELETE")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50" dirty="0">
                <a:solidFill>
                  <a:srgbClr val="1976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</a:t>
            </a: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>
                <a:solidFill>
                  <a:srgbClr val="6A1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2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"submit"</a:t>
            </a:r>
            <a:r>
              <a:rPr lang="en-US" sz="1250" dirty="0">
                <a:solidFill>
                  <a:srgbClr val="1976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削除</a:t>
            </a:r>
            <a:r>
              <a:rPr lang="en-US" sz="1250" dirty="0">
                <a:solidFill>
                  <a:srgbClr val="1976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&lt;/button&gt;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976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&lt;/form&gt;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7B0E22"/>
          </a:solidFill>
          <a:ln w="12700">
            <a:solidFill>
              <a:srgbClr val="7B0E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274320" y="4709160"/>
            <a:ext cx="3657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D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PH27  第11回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4709160"/>
            <a:ext cx="56692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D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エンドポイントプログラミング（PHP）  2026年度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削除時の注意点と論理削除</a:t>
            </a:r>
            <a:endParaRPr lang="en-US" sz="220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91440" cy="4457700"/>
          </a:xfrm>
          <a:prstGeom prst="rect">
            <a:avLst/>
          </a:prstGeom>
          <a:solidFill>
            <a:srgbClr val="8892BF"/>
          </a:solidFill>
          <a:ln w="12700">
            <a:solidFill>
              <a:srgbClr val="8892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228600" y="749808"/>
            <a:ext cx="8686800" cy="3904488"/>
          </a:xfrm>
          <a:prstGeom prst="rect">
            <a:avLst/>
          </a:prstGeom>
          <a:solidFill>
            <a:srgbClr val="F8F8FF"/>
          </a:solidFill>
          <a:ln w="12700">
            <a:solidFill>
              <a:srgbClr val="C5CAE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228600" y="749808"/>
            <a:ext cx="8686800" cy="347472"/>
          </a:xfrm>
          <a:prstGeom prst="rect">
            <a:avLst/>
          </a:prstGeom>
          <a:solidFill>
            <a:srgbClr val="E8EAF0"/>
          </a:solidFill>
          <a:ln w="12700">
            <a:solidFill>
              <a:srgbClr val="C5CAE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384048" y="850392"/>
            <a:ext cx="128016" cy="128016"/>
          </a:xfrm>
          <a:prstGeom prst="ellipse">
            <a:avLst/>
          </a:prstGeom>
          <a:solidFill>
            <a:srgbClr val="E3342F"/>
          </a:solidFill>
          <a:ln w="12700">
            <a:solidFill>
              <a:srgbClr val="E334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621792" y="850392"/>
            <a:ext cx="128016" cy="128016"/>
          </a:xfrm>
          <a:prstGeom prst="ellipse">
            <a:avLst/>
          </a:prstGeom>
          <a:solidFill>
            <a:srgbClr val="EFBB12"/>
          </a:solidFill>
          <a:ln w="12700">
            <a:solidFill>
              <a:srgbClr val="EFBB1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859536" y="850392"/>
            <a:ext cx="128016" cy="128016"/>
          </a:xfrm>
          <a:prstGeom prst="ellipse">
            <a:avLst/>
          </a:prstGeom>
          <a:solidFill>
            <a:srgbClr val="5BD75B"/>
          </a:solidFill>
          <a:ln w="12700">
            <a:solidFill>
              <a:srgbClr val="5BD75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228600" y="768096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SoftDeletes.php</a:t>
            </a:r>
            <a:endParaRPr lang="en-US" sz="1100"/>
          </a:p>
        </p:txBody>
      </p:sp>
      <p:sp>
        <p:nvSpPr>
          <p:cNvPr id="11" name="Text 9"/>
          <p:cNvSpPr/>
          <p:nvPr/>
        </p:nvSpPr>
        <p:spPr>
          <a:xfrm>
            <a:off x="384048" y="1170432"/>
            <a:ext cx="8321040" cy="3374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① </a:t>
            </a:r>
            <a:r>
              <a:rPr lang="en-US" sz="1250" dirty="0" err="1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物理削除の前に必ず確認を取る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976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onclick="return confirm('</a:t>
            </a:r>
            <a:r>
              <a:rPr lang="en-US" sz="1250" dirty="0" err="1">
                <a:solidFill>
                  <a:srgbClr val="1976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本当に削除しますか</a:t>
            </a:r>
            <a:r>
              <a:rPr lang="en-US" sz="1250" dirty="0">
                <a:solidFill>
                  <a:srgbClr val="1976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？')"&gt;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50" dirty="0" err="1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削除</a:t>
            </a: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&lt;/button&gt;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② </a:t>
            </a:r>
            <a:r>
              <a:rPr lang="en-US" sz="1250" dirty="0" err="1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論理削除（データを残したまま非表示にする</a:t>
            </a:r>
            <a:r>
              <a:rPr lang="en-US" sz="12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）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F5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Illuminate\Database\Eloquent\</a:t>
            </a:r>
            <a:r>
              <a:rPr lang="en-US" sz="1250" dirty="0" err="1">
                <a:solidFill>
                  <a:srgbClr val="4F5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SoftDeletes</a:t>
            </a:r>
            <a:r>
              <a:rPr lang="en-US" sz="1250" dirty="0">
                <a:solidFill>
                  <a:srgbClr val="4F5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Member extends Model {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F5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 </a:t>
            </a:r>
            <a:r>
              <a:rPr lang="en-US" sz="1250" dirty="0" err="1">
                <a:solidFill>
                  <a:srgbClr val="4F5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SoftDeletes</a:t>
            </a:r>
            <a:r>
              <a:rPr lang="en-US" sz="1250" dirty="0">
                <a:solidFill>
                  <a:srgbClr val="4F5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// </a:t>
            </a:r>
            <a:r>
              <a:rPr lang="en-US" sz="1250" dirty="0" err="1">
                <a:solidFill>
                  <a:srgbClr val="4F5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deleted_at</a:t>
            </a:r>
            <a:r>
              <a:rPr lang="en-US" sz="1250" dirty="0">
                <a:solidFill>
                  <a:srgbClr val="4F5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 err="1">
                <a:solidFill>
                  <a:srgbClr val="4F5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カラムが必要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F5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$member-&gt;delete();            // </a:t>
            </a:r>
            <a:r>
              <a:rPr lang="en-US" sz="1250" dirty="0" err="1">
                <a:solidFill>
                  <a:srgbClr val="4F5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deleted_at</a:t>
            </a:r>
            <a:r>
              <a:rPr lang="en-US" sz="1250" dirty="0">
                <a:solidFill>
                  <a:srgbClr val="4F5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 err="1">
                <a:solidFill>
                  <a:srgbClr val="4F5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に日時が入る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F5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Member::</a:t>
            </a:r>
            <a:r>
              <a:rPr lang="en-US" sz="1250" dirty="0" err="1">
                <a:solidFill>
                  <a:srgbClr val="4F5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withTrashed</a:t>
            </a:r>
            <a:r>
              <a:rPr lang="en-US" sz="1250" dirty="0">
                <a:solidFill>
                  <a:srgbClr val="4F5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()-&gt;get(); // </a:t>
            </a:r>
            <a:r>
              <a:rPr lang="en-US" sz="1250" dirty="0" err="1">
                <a:solidFill>
                  <a:srgbClr val="4F5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削除済みも含めて取得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F5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$member-&gt;restore();           // </a:t>
            </a:r>
            <a:r>
              <a:rPr lang="en-US" sz="1250" dirty="0" err="1">
                <a:solidFill>
                  <a:srgbClr val="4F5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復元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F5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$member-&gt;</a:t>
            </a:r>
            <a:r>
              <a:rPr lang="en-US" sz="1250" dirty="0" err="1">
                <a:solidFill>
                  <a:srgbClr val="4F5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forceDelete</a:t>
            </a:r>
            <a:r>
              <a:rPr lang="en-US" sz="1250" dirty="0">
                <a:solidFill>
                  <a:srgbClr val="4F5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       // </a:t>
            </a:r>
            <a:r>
              <a:rPr lang="en-US" sz="1250" dirty="0" err="1">
                <a:solidFill>
                  <a:srgbClr val="4F5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完全に削除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③ </a:t>
            </a:r>
            <a:r>
              <a:rPr lang="en-US" sz="1250" dirty="0" err="1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よくあるエラ</a:t>
            </a:r>
            <a:r>
              <a:rPr lang="en-US" sz="12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ー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404 → </a:t>
            </a:r>
            <a:r>
              <a:rPr lang="en-US" sz="1250" dirty="0" err="1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findOrFail</a:t>
            </a:r>
            <a:r>
              <a:rPr lang="en-US" sz="12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 err="1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で存在しないIDを指定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r>
              <a:rPr lang="en-US" sz="1250" dirty="0" err="1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MethodNotAllowed</a:t>
            </a:r>
            <a:r>
              <a:rPr lang="en-US" sz="12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→ @method("DELETE") </a:t>
            </a:r>
            <a:r>
              <a:rPr lang="en-US" sz="1250" dirty="0" err="1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の付け忘れ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7B0E22"/>
          </a:solidFill>
          <a:ln w="12700">
            <a:solidFill>
              <a:srgbClr val="7B0E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274320" y="4709160"/>
            <a:ext cx="3657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FD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PH27  第11回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3200400" y="4709160"/>
            <a:ext cx="56692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FD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エンドポイントプログラミング（PHP）  2026年度</a:t>
            </a:r>
            <a:endParaRPr lang="en-US"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まとめと演習課題</a:t>
            </a:r>
            <a:endParaRPr lang="en-US" sz="220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91440" cy="4457700"/>
          </a:xfrm>
          <a:prstGeom prst="rect">
            <a:avLst/>
          </a:prstGeom>
          <a:solidFill>
            <a:srgbClr val="8892BF"/>
          </a:solidFill>
          <a:ln w="12700">
            <a:solidFill>
              <a:srgbClr val="8892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228600" y="749808"/>
            <a:ext cx="8686800" cy="3904488"/>
          </a:xfrm>
          <a:prstGeom prst="rect">
            <a:avLst/>
          </a:prstGeom>
          <a:solidFill>
            <a:srgbClr val="F8F8FF"/>
          </a:solidFill>
          <a:ln w="12700">
            <a:solidFill>
              <a:srgbClr val="C5CAE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228600" y="749808"/>
            <a:ext cx="8686800" cy="347472"/>
          </a:xfrm>
          <a:prstGeom prst="rect">
            <a:avLst/>
          </a:prstGeom>
          <a:solidFill>
            <a:srgbClr val="E8EAF0"/>
          </a:solidFill>
          <a:ln w="12700">
            <a:solidFill>
              <a:srgbClr val="C5CAE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384048" y="850392"/>
            <a:ext cx="128016" cy="128016"/>
          </a:xfrm>
          <a:prstGeom prst="ellipse">
            <a:avLst/>
          </a:prstGeom>
          <a:solidFill>
            <a:srgbClr val="E3342F"/>
          </a:solidFill>
          <a:ln w="12700">
            <a:solidFill>
              <a:srgbClr val="E334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621792" y="850392"/>
            <a:ext cx="128016" cy="128016"/>
          </a:xfrm>
          <a:prstGeom prst="ellipse">
            <a:avLst/>
          </a:prstGeom>
          <a:solidFill>
            <a:srgbClr val="EFBB12"/>
          </a:solidFill>
          <a:ln w="12700">
            <a:solidFill>
              <a:srgbClr val="EFBB1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859536" y="850392"/>
            <a:ext cx="128016" cy="128016"/>
          </a:xfrm>
          <a:prstGeom prst="ellipse">
            <a:avLst/>
          </a:prstGeom>
          <a:solidFill>
            <a:srgbClr val="5BD75B"/>
          </a:solidFill>
          <a:ln w="12700">
            <a:solidFill>
              <a:srgbClr val="5BD75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228600" y="768096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まとめ.txt</a:t>
            </a:r>
            <a:endParaRPr lang="en-US" sz="1100"/>
          </a:p>
        </p:txBody>
      </p:sp>
      <p:sp>
        <p:nvSpPr>
          <p:cNvPr id="11" name="Text 9"/>
          <p:cNvSpPr/>
          <p:nvPr/>
        </p:nvSpPr>
        <p:spPr>
          <a:xfrm>
            <a:off x="384048" y="1170432"/>
            <a:ext cx="8321040" cy="3374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</a:t>
            </a:r>
            <a:r>
              <a:rPr lang="en-US" sz="1200" dirty="0" err="1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本日のまとめ</a:t>
            </a:r>
            <a:r>
              <a:rPr lang="en-US" sz="120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】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・all() / find() / </a:t>
            </a:r>
            <a:r>
              <a:rPr lang="en-US" sz="1200" dirty="0" err="1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findOrFail</a:t>
            </a:r>
            <a:r>
              <a:rPr lang="en-US" sz="120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… </a:t>
            </a:r>
            <a:r>
              <a:rPr lang="en-US" sz="1200" dirty="0" err="1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基本の取得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・where() / </a:t>
            </a:r>
            <a:r>
              <a:rPr lang="en-US" sz="1200" dirty="0" err="1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orderBy</a:t>
            </a:r>
            <a:r>
              <a:rPr lang="en-US" sz="120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/ paginate() … </a:t>
            </a:r>
            <a:r>
              <a:rPr lang="en-US" sz="1200" dirty="0" err="1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条件と整形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・@foreach・@</a:t>
            </a:r>
            <a:r>
              <a:rPr lang="en-US" sz="1200" dirty="0" err="1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forelse</a:t>
            </a:r>
            <a:r>
              <a:rPr lang="en-US" sz="120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 err="1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で一覧表示、links</a:t>
            </a:r>
            <a:r>
              <a:rPr lang="en-US" sz="120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</a:t>
            </a:r>
            <a:r>
              <a:rPr lang="en-US" sz="1200" dirty="0" err="1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でページ送り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・delete() は DELETE </a:t>
            </a:r>
            <a:r>
              <a:rPr lang="en-US" sz="1200" dirty="0" err="1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メソッド</a:t>
            </a:r>
            <a:r>
              <a:rPr lang="en-US" sz="120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＋@</a:t>
            </a:r>
            <a:r>
              <a:rPr lang="en-US" sz="1200" dirty="0" err="1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csrf</a:t>
            </a:r>
            <a:r>
              <a:rPr lang="en-US" sz="120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 err="1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が必須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</a:t>
            </a:r>
            <a:r>
              <a:rPr lang="en-US" sz="1200" dirty="0" err="1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消したくないデータは</a:t>
            </a:r>
            <a:r>
              <a:rPr lang="en-US" sz="120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 err="1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SoftDeletes</a:t>
            </a:r>
            <a:r>
              <a:rPr lang="en-US" sz="120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 err="1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で論理削除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</a:t>
            </a:r>
            <a:r>
              <a:rPr lang="en-US" sz="1200" dirty="0" err="1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演習課題</a:t>
            </a:r>
            <a:r>
              <a:rPr lang="en-US" sz="120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】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会員一覧を作成日の新しい順に10件ずつ表示する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</a:t>
            </a:r>
            <a:r>
              <a:rPr lang="en-US" sz="1200" dirty="0" err="1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名前で部分一致検索できるフォームを追加する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</a:t>
            </a:r>
            <a:r>
              <a:rPr lang="en-US" sz="1200" dirty="0" err="1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各行に削除ボタンを付け、確認ダイアログを表示する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Member </a:t>
            </a:r>
            <a:r>
              <a:rPr lang="en-US" sz="1200" dirty="0" err="1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モデルを</a:t>
            </a:r>
            <a:r>
              <a:rPr lang="en-US" sz="120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 err="1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SoftDeletes</a:t>
            </a:r>
            <a:r>
              <a:rPr lang="en-US" sz="120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 err="1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対応にし</a:t>
            </a:r>
            <a:r>
              <a:rPr lang="en-US" sz="120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、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1200" dirty="0" err="1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削除済みデータの一覧画面を作る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</a:t>
            </a:r>
            <a:r>
              <a:rPr lang="en-US" sz="1200" dirty="0" err="1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次回予告</a:t>
            </a:r>
            <a:r>
              <a:rPr lang="en-US" sz="120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】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第12回：バリデーションとフォームリクエスト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7B0E22"/>
          </a:solidFill>
          <a:ln w="12700">
            <a:solidFill>
              <a:srgbClr val="7B0E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274320" y="4709160"/>
            <a:ext cx="3657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FD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PH27  第11回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3200400" y="4709160"/>
            <a:ext cx="56692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FD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エンドポイントプログラミング（PHP）  2026年度</a:t>
            </a:r>
            <a:endParaRPr lang="en-US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881</Words>
  <Application>Microsoft Office PowerPoint</Application>
  <PresentationFormat>画面に合わせる (16:9)</PresentationFormat>
  <Paragraphs>150</Paragraphs>
  <Slides>8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4" baseType="lpstr">
      <vt:lpstr>Meiryo</vt:lpstr>
      <vt:lpstr>Arial</vt:lpstr>
      <vt:lpstr>Arial Black</vt:lpstr>
      <vt:lpstr>Calibri</vt:lpstr>
      <vt:lpstr>Consolas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PH27 第11回 EloquentでSELECT・DELETE</dc:title>
  <dc:subject>PptxGenJS Presentation</dc:subject>
  <dc:creator>高橋 真広</dc:creator>
  <cp:lastModifiedBy>NH-STAFF 高橋真広</cp:lastModifiedBy>
  <cp:revision>1</cp:revision>
  <dcterms:created xsi:type="dcterms:W3CDTF">2026-04-01T02:13:36Z</dcterms:created>
  <dcterms:modified xsi:type="dcterms:W3CDTF">2026-09-01T06:45:27Z</dcterms:modified>
</cp:coreProperties>
</file>